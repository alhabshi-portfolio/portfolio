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71" r:id="rId5"/>
    <p:sldId id="269" r:id="rId6"/>
    <p:sldId id="266" r:id="rId7"/>
    <p:sldId id="272" r:id="rId8"/>
    <p:sldId id="273" r:id="rId9"/>
    <p:sldId id="267" r:id="rId10"/>
    <p:sldId id="268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4618"/>
  </p:normalViewPr>
  <p:slideViewPr>
    <p:cSldViewPr snapToGrid="0">
      <p:cViewPr varScale="1">
        <p:scale>
          <a:sx n="60" d="100"/>
          <a:sy n="60" d="100"/>
        </p:scale>
        <p:origin x="192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8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3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5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0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3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4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6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4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3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0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E7370-AC71-416A-8963-14EEC89C983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A73ED-E90A-44A7-93A1-C5BAEE23A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8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alexledsom/2025/06/01/spain-overtourism--housing-crisis-sparks-bold-reforms/" TargetMode="External"/><Relationship Id="rId2" Type="http://schemas.openxmlformats.org/officeDocument/2006/relationships/hyperlink" Target="https://www.fodors.com/news/news/fodors-no-list-202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ublication/385776477_Mitigating_Overtourism_in_Miami_Beach_Through_Sustainable_Destination_Branding_A_Tourism_Discourse_Analysis_of_the_Anti-Spring_Break_Marketing_Campa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16735" y="779930"/>
            <a:ext cx="10136659" cy="2387600"/>
          </a:xfrm>
        </p:spPr>
        <p:txBody>
          <a:bodyPr>
            <a:normAutofit/>
          </a:bodyPr>
          <a:lstStyle/>
          <a:p>
            <a:r>
              <a:rPr lang="en-US" sz="4000"/>
              <a:t>Overtourism &amp; Hospitality </a:t>
            </a:r>
            <a:br>
              <a:rPr lang="en-US" sz="4000"/>
            </a:br>
            <a:r>
              <a:rPr lang="en-US" sz="4000"/>
              <a:t>Real Estate Inflation: </a:t>
            </a:r>
            <a:br>
              <a:rPr lang="en-US"/>
            </a:br>
            <a:r>
              <a:rPr lang="en-US"/>
              <a:t>A Symbiotic Surge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19443" y="5251047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Salem Alhabshi | Ben Kearney | Laice Rollins</a:t>
            </a:r>
          </a:p>
          <a:p>
            <a:endParaRPr lang="en-US"/>
          </a:p>
          <a:p>
            <a:r>
              <a:rPr lang="en-US"/>
              <a:t>HMG 6257: Hospitality Industry Research Analysis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0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30" y="4629572"/>
            <a:ext cx="3418990" cy="1412119"/>
          </a:xfrm>
        </p:spPr>
        <p:txBody>
          <a:bodyPr>
            <a:normAutofit/>
          </a:bodyPr>
          <a:lstStyle/>
          <a:p>
            <a:r>
              <a:rPr lang="en-US" sz="3000"/>
              <a:t>What Is Overtourism &amp; Why It Matters</a:t>
            </a:r>
          </a:p>
        </p:txBody>
      </p:sp>
      <p:pic>
        <p:nvPicPr>
          <p:cNvPr id="5" name="Picture 4" descr="Overtourism: Can world be saved from too much travel? | CNN">
            <a:extLst>
              <a:ext uri="{FF2B5EF4-FFF2-40B4-BE49-F238E27FC236}">
                <a16:creationId xmlns:a16="http://schemas.microsoft.com/office/drawing/2014/main" id="{0543F40A-3DC1-B44E-9555-2BDC7BC5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65" b="8432"/>
          <a:stretch>
            <a:fillRect/>
          </a:stretch>
        </p:blipFill>
        <p:spPr>
          <a:xfrm>
            <a:off x="20" y="-137574"/>
            <a:ext cx="12191980" cy="3786387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294" y="4788323"/>
            <a:ext cx="6897626" cy="1399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/>
              <a:t>Define overtourism: excessive tourist volume overwhelming local infrastructure, culture, and environment</a:t>
            </a:r>
          </a:p>
          <a:p>
            <a:r>
              <a:rPr lang="en-US" sz="1400"/>
              <a:t>Show global tourism rebound post-COVID (revenge travel, Instagram-driven destinations)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/>
              <a:t>Hospitality relevance: spike in demand for short-term rentals, hotel stays, and branded residences</a:t>
            </a:r>
            <a:endParaRPr lang="en-US" sz="1400">
              <a:ea typeface="Calibri"/>
              <a:cs typeface="Calibri"/>
            </a:endParaRPr>
          </a:p>
          <a:p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72289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AC325-8355-B120-2A02-B0FDF8B8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is Overtourism and Why is It a Problem?">
            <a:extLst>
              <a:ext uri="{FF2B5EF4-FFF2-40B4-BE49-F238E27FC236}">
                <a16:creationId xmlns:a16="http://schemas.microsoft.com/office/drawing/2014/main" id="{CB2CAD77-7B51-A599-4923-7B390B8D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757DB-B890-5D44-B2D8-89B5676D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What’s Driving the Surge?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A95A-D3A4-1E92-1AF8-02569AC0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Social media &amp; influencer culture (Instagrammable spots) 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Rise of flexible work and global mobility (digital nomads, pied-à-terre buyers)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Hospitality platforms (Airbnb, Vrbo) expanding inventory during peak seasons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Government incentives for tourism development</a:t>
            </a:r>
            <a:endParaRPr lang="en-US" sz="2000"/>
          </a:p>
          <a:p>
            <a:pPr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>
              <a:buNone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381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D903-5B12-C068-4B60-C2A3C341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Where is Overtourism being felt?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E764-2342-027D-0305-7D5952ED6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According to Fodor's No List 2025</a:t>
            </a:r>
          </a:p>
          <a:p>
            <a:pPr lvl="1"/>
            <a:r>
              <a:rPr lang="en-US" sz="2000" dirty="0">
                <a:ea typeface="Calibri"/>
                <a:cs typeface="Calibri"/>
              </a:rPr>
              <a:t>Bali, Indonesia: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sz="1400" dirty="0">
                <a:ea typeface="Calibri"/>
                <a:cs typeface="Calibri"/>
              </a:rPr>
              <a:t>"</a:t>
            </a:r>
            <a:r>
              <a:rPr lang="en-US" sz="1400" dirty="0">
                <a:ea typeface="+mn-lt"/>
                <a:cs typeface="+mn-lt"/>
              </a:rPr>
              <a:t>Post-pandemic travel rebound has only intensified the strain on the island. While this influx has boosted the economy, it has also placed overwhelming pressure on Bali’s infrastructure."</a:t>
            </a:r>
          </a:p>
          <a:p>
            <a:pPr lvl="1"/>
            <a:r>
              <a:rPr lang="en-US" sz="2000" dirty="0">
                <a:ea typeface="Calibri"/>
                <a:cs typeface="Calibri"/>
              </a:rPr>
              <a:t>Europe: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sz="1400" dirty="0">
                <a:ea typeface="Calibri"/>
                <a:cs typeface="Calibri"/>
              </a:rPr>
              <a:t>"</a:t>
            </a:r>
            <a:r>
              <a:rPr lang="en-US" sz="1400" dirty="0">
                <a:ea typeface="+mn-lt"/>
                <a:cs typeface="+mn-lt"/>
              </a:rPr>
              <a:t>According to the European Travel Commission, the number of visitors in the first quarter of 2024 alone was 7.2% higher than before the pandemic. This influx isn’t just clogging neighborhoods with excessive foot traffic, it’s altering the very fabric of society: raising the cost of living, straining infrastructure and natural resources, and homogenizing the culture of Europe’s most popular places. "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Koh Samui, Thailand: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400" dirty="0">
                <a:ea typeface="+mn-lt"/>
                <a:cs typeface="+mn-lt"/>
              </a:rPr>
              <a:t>Season 3 of HBO's 'The White Lotus' filmed in Thailand, and experts are concerned how the popularity of the show will influx a place that has long struggled with overtourism. </a:t>
            </a:r>
          </a:p>
          <a:p>
            <a:r>
              <a:rPr lang="en-US" sz="2400" dirty="0">
                <a:ea typeface="+mn-lt"/>
                <a:cs typeface="+mn-lt"/>
              </a:rPr>
              <a:t>Places Fodor warns of "Beginning to Suffer"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Sicily, Italy (Severe water issue)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British Virgin Islands (Cruise market taking away from local businesses)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Kerala, India (Rise in tourism has exasperated the devastation from natural disasters)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Tokyo and Kyoto, Japan (Overflow of international tourists)</a:t>
            </a:r>
          </a:p>
          <a:p>
            <a:pPr lvl="1"/>
            <a:r>
              <a:rPr lang="en-US" sz="1400" dirty="0">
                <a:ea typeface="+mn-lt"/>
                <a:cs typeface="+mn-lt"/>
              </a:rPr>
              <a:t>Oaxaca, Mexico (Locals are complaining their culture and customs are being commercialized, leading to large wealth gaps and environmental degradation.)</a:t>
            </a:r>
          </a:p>
          <a:p>
            <a:pPr lvl="1"/>
            <a:endParaRPr lang="en-US" sz="2000" dirty="0">
              <a:ea typeface="+mn-lt"/>
              <a:cs typeface="+mn-lt"/>
            </a:endParaRPr>
          </a:p>
          <a:p>
            <a:pPr lvl="1"/>
            <a:endParaRPr lang="en-US" sz="1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57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AE92E-90B4-7019-6AC8-CA7A0BEA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FF10-E148-4568-3D99-918312B6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Driving the Surge?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1BBD-A014-8001-E602-52D9A0017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FontTx/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4CDD1-75EA-5A4B-8707-600B5B34B083}"/>
              </a:ext>
            </a:extLst>
          </p:cNvPr>
          <p:cNvSpPr txBox="1"/>
          <p:nvPr/>
        </p:nvSpPr>
        <p:spPr>
          <a:xfrm>
            <a:off x="1362334" y="2486591"/>
            <a:ext cx="8240140" cy="180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Visuals: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- Airbnb listings growth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- Remote work lifestyle infographic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Calibri"/>
                <a:cs typeface="Calibri"/>
              </a:rPr>
              <a:t>- Quote: “Flexibility is now the ultimate luxury.”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954F9-EE45-4607-75BC-0E3BCEE7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152-D6B5-A515-96D1-E74532B7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Ripple Effect on Real Estate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63D3-4697-CFBC-7684-CDE5800B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US"/>
            </a:br>
            <a:r>
              <a:rPr lang="en-US"/>
              <a:t>- Hospitality real estate prices surge in tourist hotspots (e.g., NYC, Miami, Barcelona)</a:t>
            </a:r>
          </a:p>
          <a:p>
            <a:pPr marL="0" indent="0">
              <a:buNone/>
            </a:pPr>
            <a:r>
              <a:rPr lang="en-US"/>
              <a:t>- Developers prioritize luxury hotel-branded residences</a:t>
            </a:r>
          </a:p>
          <a:p>
            <a:pPr marL="0" indent="0">
              <a:buNone/>
            </a:pPr>
            <a:r>
              <a:rPr lang="en-US"/>
              <a:t>- Local housing affordability declines</a:t>
            </a:r>
          </a:p>
          <a:p>
            <a:pPr marL="0" indent="0">
              <a:buNone/>
            </a:pPr>
            <a:r>
              <a:rPr lang="en-US"/>
              <a:t>- Future: more gated hospitality zones, investor-led urban reshaping</a:t>
            </a:r>
          </a:p>
          <a:p>
            <a:pPr marL="0" indent="0">
              <a:buNone/>
            </a:pPr>
            <a:r>
              <a:rPr lang="en-US"/>
              <a:t>Visuals:</a:t>
            </a:r>
          </a:p>
          <a:p>
            <a:pPr marL="0" indent="0">
              <a:buNone/>
            </a:pPr>
            <a:r>
              <a:rPr lang="en-US"/>
              <a:t>- Price per square foot comparison (pre/post overtourism)</a:t>
            </a:r>
          </a:p>
          <a:p>
            <a:pPr marL="0" indent="0">
              <a:buNone/>
            </a:pPr>
            <a:r>
              <a:rPr lang="en-US"/>
              <a:t>- Branded residence examples (Ritz-Carlton, etc.)</a:t>
            </a:r>
          </a:p>
          <a:p>
            <a:pPr marL="0" indent="0">
              <a:buNone/>
            </a:pPr>
            <a:r>
              <a:rPr lang="en-US"/>
              <a:t>- Graph: tourism vs. real estate value correlation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2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ABE7-0707-E03B-90D4-6E7DD016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72A2C-9B52-AEB5-685B-A3BF56A5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Adaptive Co-Management</a:t>
            </a:r>
            <a:br>
              <a:rPr lang="en-US" sz="1600" dirty="0"/>
            </a:br>
            <a:r>
              <a:rPr lang="en-US" sz="1600" dirty="0"/>
              <a:t>Move from top-down governance to participatory management that includes local communities, NGOs, and private stakeholders in decision-making. </a:t>
            </a:r>
            <a:endParaRPr lang="ar-SA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Carrying Capacity &amp; Visitor Limits</a:t>
            </a:r>
            <a:r>
              <a:rPr lang="ar-SA" sz="1600" b="1" dirty="0"/>
              <a:t>  </a:t>
            </a:r>
            <a:br>
              <a:rPr lang="en-US" sz="1600" dirty="0"/>
            </a:br>
            <a:r>
              <a:rPr lang="en-US" altLang="en-US" sz="1600" dirty="0">
                <a:solidFill>
                  <a:srgbClr val="000000"/>
                </a:solidFill>
                <a:latin typeface="-webkit-standard"/>
              </a:rPr>
              <a:t>Apply tools like </a:t>
            </a:r>
            <a:r>
              <a:rPr lang="en-US" altLang="en-US" sz="1600" i="1" dirty="0">
                <a:solidFill>
                  <a:srgbClr val="000000"/>
                </a:solidFill>
              </a:rPr>
              <a:t>Limits of Acceptable Change (LAC)</a:t>
            </a:r>
            <a:r>
              <a:rPr lang="en-US" altLang="en-US" sz="1600" dirty="0">
                <a:solidFill>
                  <a:srgbClr val="000000"/>
                </a:solidFill>
                <a:latin typeface="-webkit-standard"/>
              </a:rPr>
              <a:t> and reservation systems to regulate</a:t>
            </a:r>
            <a:r>
              <a:rPr lang="ar-SA" altLang="en-US" sz="16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-webkit-standard"/>
              </a:rPr>
              <a:t>overcrowding and protect fragile ecosystems.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Policy &amp; Regulation</a:t>
            </a:r>
            <a:br>
              <a:rPr lang="en-US" sz="1600" dirty="0"/>
            </a:br>
            <a:r>
              <a:rPr lang="en-US" sz="1600" dirty="0"/>
              <a:t>Introduce tourism taxes, limit short-term rentals (e.g., Airbnb), restrict cruise ships, or temporarily close sites for ecological recovery.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Sustainable Tourism Development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Encourage eco-lodges, locally sourced materials, and diversification of the economy to reduce over-dependence on mass tourism.</a:t>
            </a:r>
            <a:endParaRPr lang="ar-SA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6242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7DEA-4F2A-D3F4-D0BC-AC233467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AI 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786E15-7B5C-21E6-E516-F51ED88BA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381" y="1506263"/>
            <a:ext cx="960747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sz="1600" b="1" dirty="0"/>
              <a:t>Smart Monitoring &amp; Data Analytics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1600" dirty="0"/>
              <a:t>Use sensors, GPS tracking, and AI to monitor real-time visitor flows, detect congestion points, and predict peak periods.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Digital Twin for Destinations</a:t>
            </a:r>
            <a:endParaRPr lang="en-US" sz="1600" dirty="0"/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A digital twin is a virtual replica of a physical destination (e.g., a national park, heritage site, or even a city center).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It simulates tourist movements, infrastructure stress, and environmental impacts under different scenarios.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Managers can test “what if” strategies before implementing them — for example: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What happens if daily visitors increase by 20%?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How would restricting access to one trail affect biodiversity?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Which areas will suffer most from overcrowding?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Already used in mega-events (e.g., Paris 2024 Olympics) and urban planning, and it can be applied to hospitality real estate hotspots to optimize traffic, safety, and sustainability.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Smart Reservation &amp; Pricing Systems</a:t>
            </a:r>
            <a:br>
              <a:rPr lang="en-US" sz="1600" dirty="0"/>
            </a:br>
            <a:r>
              <a:rPr lang="en-US" sz="1600" dirty="0"/>
              <a:t>Integrate apps that allow timed-entry tickets, dynamic pricing based on demand, and distribution of visitors to less crowded areas.</a:t>
            </a:r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1292984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22677-19CD-7FB9-B4F0-405C71EF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0EB6-53A4-3EB7-8AC5-AAEEAC61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Hospitality Can Respond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8103-0F5E-DB84-7D72-B73A5F5C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 panose="020F0502020204030204"/>
              </a:rPr>
              <a:t>Several destinations have already begun protocols to combat overtourism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Miami Beach: </a:t>
            </a:r>
            <a:r>
              <a:rPr lang="en-US">
                <a:ea typeface="+mn-lt"/>
                <a:cs typeface="+mn-lt"/>
              </a:rPr>
              <a:t>Marketing campaign aimed at informing potential spring breakers that disorderly behavior will no longer be tolerated, emphasizing the strict enforcement of existing laws and regulations (Spezzano 2024).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Spain: </a:t>
            </a:r>
            <a:r>
              <a:rPr lang="en-US">
                <a:ea typeface="+mn-lt"/>
                <a:cs typeface="+mn-lt"/>
              </a:rPr>
              <a:t>Spain's Consumer Rights Ministry ordered the removal of over 65,000 Airbnb listings, aiming to curb overtourism and protect housing for residents. (</a:t>
            </a:r>
            <a:r>
              <a:rPr lang="en-US" err="1">
                <a:ea typeface="+mn-lt"/>
                <a:cs typeface="+mn-lt"/>
              </a:rPr>
              <a:t>Ledsom</a:t>
            </a:r>
            <a:r>
              <a:rPr lang="en-US">
                <a:ea typeface="+mn-lt"/>
                <a:cs typeface="+mn-lt"/>
              </a:rPr>
              <a:t> 2025).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Italy: Limiting the amount of cruise ships in Venice.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Copenhagen: Rewarding guests with free food for cleaning up around the city. 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577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27C2-C872-DC03-907B-2228DF7E1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Rethinking Hospitality Expansion: Sustainable Investment in Emerging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3909-4FC1-A8E5-FD2D-7E80F5F7C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Shift from saturated markets to emerging destinations</a:t>
            </a:r>
          </a:p>
          <a:p>
            <a:r>
              <a:rPr lang="en-US"/>
              <a:t>Investors are increasingly exploring countries like Colombia, Vietnam, and Rwanda — rich in culture but not yet overwhelmed by mass tourism.</a:t>
            </a:r>
          </a:p>
          <a:p>
            <a:r>
              <a:rPr lang="en-US"/>
              <a:t>Build with sustainability at the core</a:t>
            </a:r>
          </a:p>
          <a:p>
            <a:r>
              <a:rPr lang="en-US"/>
              <a:t>Emphasize eco-lodges, locally sourced materials, and community-integrated designs to avoid extractive development.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7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 List (APA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710" y="4335019"/>
            <a:ext cx="10515600" cy="215785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Gretzel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 (2021). Technological solutions to overtourism: Potential and limits. In 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 protected areas in the era of overtourism: Challenges and solutions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337-349). Cham: Springer International Publishing.</a:t>
            </a:r>
            <a:endParaRPr lang="en-US"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12216-C2C3-42C2-BDFB-6791028CCF12}"/>
              </a:ext>
            </a:extLst>
          </p:cNvPr>
          <p:cNvSpPr txBox="1"/>
          <p:nvPr/>
        </p:nvSpPr>
        <p:spPr>
          <a:xfrm>
            <a:off x="537173" y="1831741"/>
            <a:ext cx="1116267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</a:rPr>
              <a:t>Fodor's Editors. (2024, November 13). </a:t>
            </a:r>
            <a:r>
              <a:rPr lang="en-US" sz="1400" i="1" dirty="0">
                <a:ea typeface="Calibri"/>
                <a:cs typeface="Calibri"/>
              </a:rPr>
              <a:t>Fodor’s No List 2025 - 15 Destinations to Reconsider in 2025</a:t>
            </a:r>
            <a:r>
              <a:rPr lang="en-US" sz="1400" dirty="0">
                <a:ea typeface="Calibri"/>
                <a:cs typeface="Calibri"/>
              </a:rPr>
              <a:t>. Fodors Travel Guide. </a:t>
            </a:r>
            <a:r>
              <a:rPr lang="en-US" sz="1400" dirty="0">
                <a:ea typeface="Calibri"/>
                <a:cs typeface="Calibri"/>
                <a:hlinkClick r:id="rId2"/>
              </a:rPr>
              <a:t>https://www.fodors.com/news/news/fodors-no-list-2025</a:t>
            </a:r>
            <a:endParaRPr lang="en-US" dirty="0"/>
          </a:p>
          <a:p>
            <a:r>
              <a:rPr lang="en-US" sz="1400" dirty="0" err="1">
                <a:ea typeface="+mn-lt"/>
                <a:cs typeface="+mn-lt"/>
              </a:rPr>
              <a:t>Ledsom</a:t>
            </a:r>
            <a:r>
              <a:rPr lang="en-US" sz="1400" dirty="0">
                <a:ea typeface="+mn-lt"/>
                <a:cs typeface="+mn-lt"/>
              </a:rPr>
              <a:t>, A. (2025, June). Spain Overtourism: Housing Crisis Sparks Bold Reforms. Forbes. </a:t>
            </a:r>
            <a:r>
              <a:rPr lang="en-US" sz="1400" dirty="0">
                <a:ea typeface="+mn-lt"/>
                <a:cs typeface="+mn-lt"/>
                <a:hlinkClick r:id="rId3"/>
              </a:rPr>
              <a:t>https://www.forbes.com/sites/alexledsom/2025/06/01/spain-overtourism--housing-crisis-sparks-bold-reforms/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Spezzano, W., &amp; Lusby, C. (2024). Mitigating Overtourism in Miami Beach Through Sustainable Destination Branding: A Tourism Discourse Analysis of the Anti-Spring Break Marketing Campaign. 21st SIM Conference: Brands and Purpose in a Changing Era.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  <a:hlinkClick r:id="rId4"/>
              </a:rPr>
              <a:t>https://www.researchgate.net/publication/385776477_Mitigating_Overtourism_in_Miami_Beach_Through_Sustainable_Destination_Branding_A_Tourism_Discourse_Analysis_of_the_Anti-Spring_Break_Marketing_Campaign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‌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‌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56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1136</Words>
  <Application>Microsoft Macintosh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-webkit-standard</vt:lpstr>
      <vt:lpstr>Arial</vt:lpstr>
      <vt:lpstr>Calibri</vt:lpstr>
      <vt:lpstr>Calibri Light</vt:lpstr>
      <vt:lpstr>Courier New</vt:lpstr>
      <vt:lpstr>Times New Roman</vt:lpstr>
      <vt:lpstr>Office Theme</vt:lpstr>
      <vt:lpstr>Overtourism &amp; Hospitality  Real Estate Inflation:  A Symbiotic Surge </vt:lpstr>
      <vt:lpstr>What Is Overtourism &amp; Why It Matters</vt:lpstr>
      <vt:lpstr>What’s Driving the Surge?</vt:lpstr>
      <vt:lpstr>Where is Overtourism being felt?</vt:lpstr>
      <vt:lpstr>What’s Driving the Surge?</vt:lpstr>
      <vt:lpstr>The Ripple Effect on Real Estate</vt:lpstr>
      <vt:lpstr>Possible solutions</vt:lpstr>
      <vt:lpstr>Possible AI solutions</vt:lpstr>
      <vt:lpstr>How Hospitality Can Respond</vt:lpstr>
      <vt:lpstr>Rethinking Hospitality Expansion: Sustainable Investment in Emerging Markets</vt:lpstr>
      <vt:lpstr>Reference List (APA style)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Miranda Kitterlin</dc:creator>
  <cp:lastModifiedBy>Salem Alhabshi</cp:lastModifiedBy>
  <cp:revision>100</cp:revision>
  <dcterms:created xsi:type="dcterms:W3CDTF">2019-02-25T16:13:25Z</dcterms:created>
  <dcterms:modified xsi:type="dcterms:W3CDTF">2025-09-23T01:37:58Z</dcterms:modified>
</cp:coreProperties>
</file>