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6" r:id="rId5"/>
    <p:sldId id="285" r:id="rId6"/>
    <p:sldId id="278" r:id="rId7"/>
    <p:sldId id="287" r:id="rId8"/>
    <p:sldId id="290" r:id="rId9"/>
    <p:sldId id="260" r:id="rId10"/>
    <p:sldId id="284" r:id="rId11"/>
    <p:sldId id="288" r:id="rId12"/>
    <p:sldId id="291" r:id="rId13"/>
    <p:sldId id="281" r:id="rId14"/>
    <p:sldId id="292" r:id="rId15"/>
    <p:sldId id="265" r:id="rId16"/>
    <p:sldId id="293" r:id="rId17"/>
    <p:sldId id="283" r:id="rId18"/>
    <p:sldId id="267" r:id="rId19"/>
    <p:sldId id="28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EB9AA"/>
    <a:srgbClr val="C0C9C2"/>
    <a:srgbClr val="AA9D92"/>
    <a:srgbClr val="F2F1EE"/>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autoAdjust="0"/>
    <p:restoredTop sz="93543" autoAdjust="0"/>
  </p:normalViewPr>
  <p:slideViewPr>
    <p:cSldViewPr snapToGrid="0">
      <p:cViewPr varScale="1">
        <p:scale>
          <a:sx n="70" d="100"/>
          <a:sy n="70" d="100"/>
        </p:scale>
        <p:origin x="200" y="880"/>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image" Target="../media/image4.jpg"/><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image" Target="../media/image4.jpg"/><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403B67-F0B0-4799-886B-ABEC099624B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693A169-8122-4800-927C-762D37DA292A}">
      <dgm:prSet/>
      <dgm:spPr/>
      <dgm:t>
        <a:bodyPr/>
        <a:lstStyle/>
        <a:p>
          <a:pPr>
            <a:lnSpc>
              <a:spcPct val="100000"/>
            </a:lnSpc>
          </a:pPr>
          <a:r>
            <a:rPr lang="en-US" b="1" dirty="0"/>
            <a:t>Adidas</a:t>
          </a:r>
          <a:r>
            <a:rPr lang="en-US" dirty="0"/>
            <a:t> (since 1970, match ball supplier)</a:t>
          </a:r>
        </a:p>
      </dgm:t>
    </dgm:pt>
    <dgm:pt modelId="{3E7D86D9-67E0-4107-B24A-B25EFA03AF36}" type="parTrans" cxnId="{032A0535-AB53-40CF-B741-208CF1A5A828}">
      <dgm:prSet/>
      <dgm:spPr/>
      <dgm:t>
        <a:bodyPr/>
        <a:lstStyle/>
        <a:p>
          <a:endParaRPr lang="en-US"/>
        </a:p>
      </dgm:t>
    </dgm:pt>
    <dgm:pt modelId="{11C6D1C6-C61C-4D26-A4F5-5DCDBFC68EE6}" type="sibTrans" cxnId="{032A0535-AB53-40CF-B741-208CF1A5A828}">
      <dgm:prSet/>
      <dgm:spPr/>
      <dgm:t>
        <a:bodyPr/>
        <a:lstStyle/>
        <a:p>
          <a:endParaRPr lang="en-US"/>
        </a:p>
      </dgm:t>
    </dgm:pt>
    <dgm:pt modelId="{B5FD19D9-F6F9-4257-AB07-36789FEA59C7}">
      <dgm:prSet/>
      <dgm:spPr/>
      <dgm:t>
        <a:bodyPr/>
        <a:lstStyle/>
        <a:p>
          <a:pPr>
            <a:lnSpc>
              <a:spcPct val="100000"/>
            </a:lnSpc>
          </a:pPr>
          <a:r>
            <a:rPr lang="en-US" b="1"/>
            <a:t>Coca-Cola</a:t>
          </a:r>
          <a:r>
            <a:rPr lang="en-US"/>
            <a:t> (since 1978, beverage)</a:t>
          </a:r>
        </a:p>
      </dgm:t>
    </dgm:pt>
    <dgm:pt modelId="{D3BE4E08-79A6-4596-A764-975B3BEDDE82}" type="parTrans" cxnId="{0706B162-56AD-4939-991D-9EA1188E1D8F}">
      <dgm:prSet/>
      <dgm:spPr/>
      <dgm:t>
        <a:bodyPr/>
        <a:lstStyle/>
        <a:p>
          <a:endParaRPr lang="en-US"/>
        </a:p>
      </dgm:t>
    </dgm:pt>
    <dgm:pt modelId="{6EB68F48-35B0-46C7-BA96-61D3E3205885}" type="sibTrans" cxnId="{0706B162-56AD-4939-991D-9EA1188E1D8F}">
      <dgm:prSet/>
      <dgm:spPr/>
      <dgm:t>
        <a:bodyPr/>
        <a:lstStyle/>
        <a:p>
          <a:endParaRPr lang="en-US"/>
        </a:p>
      </dgm:t>
    </dgm:pt>
    <dgm:pt modelId="{2772B171-0F6F-4B8B-9C45-6DD0E8C01293}">
      <dgm:prSet/>
      <dgm:spPr/>
      <dgm:t>
        <a:bodyPr/>
        <a:lstStyle/>
        <a:p>
          <a:pPr>
            <a:lnSpc>
              <a:spcPct val="100000"/>
            </a:lnSpc>
          </a:pPr>
          <a:r>
            <a:rPr lang="en-US" b="1" dirty="0"/>
            <a:t>Hyundai/Kia </a:t>
          </a:r>
          <a:r>
            <a:rPr lang="en-US" dirty="0"/>
            <a:t>(automotive)</a:t>
          </a:r>
        </a:p>
      </dgm:t>
    </dgm:pt>
    <dgm:pt modelId="{00662032-75D2-4E79-9ABE-00924B51D3C8}" type="parTrans" cxnId="{90101871-232C-43A1-9E91-AAEDA3A40A00}">
      <dgm:prSet/>
      <dgm:spPr/>
      <dgm:t>
        <a:bodyPr/>
        <a:lstStyle/>
        <a:p>
          <a:endParaRPr lang="en-US"/>
        </a:p>
      </dgm:t>
    </dgm:pt>
    <dgm:pt modelId="{28232728-4881-4F99-B98B-7500F67B159F}" type="sibTrans" cxnId="{90101871-232C-43A1-9E91-AAEDA3A40A00}">
      <dgm:prSet/>
      <dgm:spPr/>
      <dgm:t>
        <a:bodyPr/>
        <a:lstStyle/>
        <a:p>
          <a:endParaRPr lang="en-US"/>
        </a:p>
      </dgm:t>
    </dgm:pt>
    <dgm:pt modelId="{5B3DC9AE-03A8-46A9-B65E-903F5DCD415E}">
      <dgm:prSet/>
      <dgm:spPr/>
      <dgm:t>
        <a:bodyPr/>
        <a:lstStyle/>
        <a:p>
          <a:pPr>
            <a:lnSpc>
              <a:spcPct val="100000"/>
            </a:lnSpc>
          </a:pPr>
          <a:r>
            <a:rPr lang="en-US" b="1"/>
            <a:t>Qatar Airways </a:t>
          </a:r>
          <a:r>
            <a:rPr lang="en-US"/>
            <a:t>(through 2030, airline)</a:t>
          </a:r>
        </a:p>
      </dgm:t>
    </dgm:pt>
    <dgm:pt modelId="{F46B6808-ECE6-47BE-85AB-0F8112027EEC}" type="parTrans" cxnId="{39B7454A-4491-4F86-A227-47E08CD2F9D4}">
      <dgm:prSet/>
      <dgm:spPr/>
      <dgm:t>
        <a:bodyPr/>
        <a:lstStyle/>
        <a:p>
          <a:endParaRPr lang="en-US"/>
        </a:p>
      </dgm:t>
    </dgm:pt>
    <dgm:pt modelId="{708BC760-E7C4-4408-AA57-4A46579FE1C4}" type="sibTrans" cxnId="{39B7454A-4491-4F86-A227-47E08CD2F9D4}">
      <dgm:prSet/>
      <dgm:spPr/>
      <dgm:t>
        <a:bodyPr/>
        <a:lstStyle/>
        <a:p>
          <a:endParaRPr lang="en-US"/>
        </a:p>
      </dgm:t>
    </dgm:pt>
    <dgm:pt modelId="{0263C244-D953-48DA-B120-33552BB05F79}">
      <dgm:prSet/>
      <dgm:spPr/>
      <dgm:t>
        <a:bodyPr/>
        <a:lstStyle/>
        <a:p>
          <a:pPr>
            <a:lnSpc>
              <a:spcPct val="100000"/>
            </a:lnSpc>
          </a:pPr>
          <a:r>
            <a:rPr lang="en-US" b="1" dirty="0"/>
            <a:t>Visa</a:t>
          </a:r>
          <a:r>
            <a:rPr lang="en-US" dirty="0"/>
            <a:t> (payment technology)</a:t>
          </a:r>
        </a:p>
      </dgm:t>
    </dgm:pt>
    <dgm:pt modelId="{F0952E11-8B12-4C9F-BB90-2781A4205197}" type="parTrans" cxnId="{AA675498-C026-4B21-A7FD-0CF764333C61}">
      <dgm:prSet/>
      <dgm:spPr/>
      <dgm:t>
        <a:bodyPr/>
        <a:lstStyle/>
        <a:p>
          <a:endParaRPr lang="en-US"/>
        </a:p>
      </dgm:t>
    </dgm:pt>
    <dgm:pt modelId="{8F94F48B-6D3D-4C81-B18B-EEAACD0571BF}" type="sibTrans" cxnId="{AA675498-C026-4B21-A7FD-0CF764333C61}">
      <dgm:prSet/>
      <dgm:spPr/>
      <dgm:t>
        <a:bodyPr/>
        <a:lstStyle/>
        <a:p>
          <a:endParaRPr lang="en-US"/>
        </a:p>
      </dgm:t>
    </dgm:pt>
    <dgm:pt modelId="{171D90DD-74B9-4B73-992A-0BA4330258A4}">
      <dgm:prSet/>
      <dgm:spPr/>
      <dgm:t>
        <a:bodyPr/>
        <a:lstStyle/>
        <a:p>
          <a:pPr>
            <a:lnSpc>
              <a:spcPct val="100000"/>
            </a:lnSpc>
          </a:pPr>
          <a:r>
            <a:rPr lang="en-US" b="1"/>
            <a:t>Aramco</a:t>
          </a:r>
          <a:r>
            <a:rPr lang="en-US"/>
            <a:t> (energy, 2024–2027)</a:t>
          </a:r>
        </a:p>
      </dgm:t>
    </dgm:pt>
    <dgm:pt modelId="{1539AEFF-2979-43C1-943A-4CA37630A481}" type="parTrans" cxnId="{2B9C1AFF-7D84-413D-81F4-19EF644717FC}">
      <dgm:prSet/>
      <dgm:spPr/>
      <dgm:t>
        <a:bodyPr/>
        <a:lstStyle/>
        <a:p>
          <a:endParaRPr lang="en-US"/>
        </a:p>
      </dgm:t>
    </dgm:pt>
    <dgm:pt modelId="{90CF505F-1E04-4342-A8B1-A9F03E4FB3B7}" type="sibTrans" cxnId="{2B9C1AFF-7D84-413D-81F4-19EF644717FC}">
      <dgm:prSet/>
      <dgm:spPr/>
      <dgm:t>
        <a:bodyPr/>
        <a:lstStyle/>
        <a:p>
          <a:endParaRPr lang="en-US"/>
        </a:p>
      </dgm:t>
    </dgm:pt>
    <dgm:pt modelId="{06DE42B2-60A9-4890-A5F7-C7924AEAA3F2}">
      <dgm:prSet/>
      <dgm:spPr/>
      <dgm:t>
        <a:bodyPr/>
        <a:lstStyle/>
        <a:p>
          <a:pPr>
            <a:lnSpc>
              <a:spcPct val="100000"/>
            </a:lnSpc>
          </a:pPr>
          <a:r>
            <a:rPr lang="en-US" b="1"/>
            <a:t>Bank of America </a:t>
          </a:r>
          <a:r>
            <a:rPr lang="en-US"/>
            <a:t>(banking, 2024)</a:t>
          </a:r>
        </a:p>
      </dgm:t>
    </dgm:pt>
    <dgm:pt modelId="{EA4D8E5F-0B44-4558-811B-8A0D163BBF23}" type="parTrans" cxnId="{F3FA023A-94F5-49B6-B373-4BE1C894B32A}">
      <dgm:prSet/>
      <dgm:spPr/>
      <dgm:t>
        <a:bodyPr/>
        <a:lstStyle/>
        <a:p>
          <a:endParaRPr lang="en-US"/>
        </a:p>
      </dgm:t>
    </dgm:pt>
    <dgm:pt modelId="{83768249-9F2F-4D77-B48D-0B4146039395}" type="sibTrans" cxnId="{F3FA023A-94F5-49B6-B373-4BE1C894B32A}">
      <dgm:prSet/>
      <dgm:spPr/>
      <dgm:t>
        <a:bodyPr/>
        <a:lstStyle/>
        <a:p>
          <a:endParaRPr lang="en-US"/>
        </a:p>
      </dgm:t>
    </dgm:pt>
    <dgm:pt modelId="{5F8ABF75-6556-48D6-ADC9-A9AD2A025ACB}" type="pres">
      <dgm:prSet presAssocID="{C1403B67-F0B0-4799-886B-ABEC099624B5}" presName="root" presStyleCnt="0">
        <dgm:presLayoutVars>
          <dgm:dir/>
          <dgm:resizeHandles val="exact"/>
        </dgm:presLayoutVars>
      </dgm:prSet>
      <dgm:spPr/>
    </dgm:pt>
    <dgm:pt modelId="{985E0DAC-F735-4F30-A49D-9C0B35CA258C}" type="pres">
      <dgm:prSet presAssocID="{2693A169-8122-4800-927C-762D37DA292A}" presName="compNode" presStyleCnt="0"/>
      <dgm:spPr/>
    </dgm:pt>
    <dgm:pt modelId="{92635252-5DCB-41B0-8E74-E5C7737BC402}" type="pres">
      <dgm:prSet presAssocID="{2693A169-8122-4800-927C-762D37DA292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B7F5343-AEBC-4464-AD3B-204D1F79822D}" type="pres">
      <dgm:prSet presAssocID="{2693A169-8122-4800-927C-762D37DA292A}" presName="spaceRect" presStyleCnt="0"/>
      <dgm:spPr/>
    </dgm:pt>
    <dgm:pt modelId="{A6E0C179-336C-4484-B269-D019D8AEC348}" type="pres">
      <dgm:prSet presAssocID="{2693A169-8122-4800-927C-762D37DA292A}" presName="textRect" presStyleLbl="revTx" presStyleIdx="0" presStyleCnt="7">
        <dgm:presLayoutVars>
          <dgm:chMax val="1"/>
          <dgm:chPref val="1"/>
        </dgm:presLayoutVars>
      </dgm:prSet>
      <dgm:spPr/>
    </dgm:pt>
    <dgm:pt modelId="{41091C1C-EBC9-4B6B-9325-320472F517EE}" type="pres">
      <dgm:prSet presAssocID="{11C6D1C6-C61C-4D26-A4F5-5DCDBFC68EE6}" presName="sibTrans" presStyleCnt="0"/>
      <dgm:spPr/>
    </dgm:pt>
    <dgm:pt modelId="{02632805-6328-4AA0-85C6-79080B397C95}" type="pres">
      <dgm:prSet presAssocID="{B5FD19D9-F6F9-4257-AB07-36789FEA59C7}" presName="compNode" presStyleCnt="0"/>
      <dgm:spPr/>
    </dgm:pt>
    <dgm:pt modelId="{41A2EFCD-C903-4897-AAAB-DD5318E4087A}" type="pres">
      <dgm:prSet presAssocID="{B5FD19D9-F6F9-4257-AB07-36789FEA59C7}" presName="iconRect" presStyleLbl="node1" presStyleIdx="1" presStyleCnt="7"/>
      <dgm:spPr>
        <a:blipFill>
          <a:blip xmlns:r="http://schemas.openxmlformats.org/officeDocument/2006/relationships" r:embed="rId2">
            <a:extLst>
              <a:ext uri="{28A0092B-C50C-407E-A947-70E740481C1C}">
                <a14:useLocalDpi xmlns:a14="http://schemas.microsoft.com/office/drawing/2010/main" val="0"/>
              </a:ext>
            </a:extLst>
          </a:blip>
          <a:srcRect/>
          <a:stretch>
            <a:fillRect l="-17000" r="-17000"/>
          </a:stretch>
        </a:blipFill>
      </dgm:spPr>
    </dgm:pt>
    <dgm:pt modelId="{1AE8729A-31CE-4280-AAE0-8AD1BBB15FD2}" type="pres">
      <dgm:prSet presAssocID="{B5FD19D9-F6F9-4257-AB07-36789FEA59C7}" presName="spaceRect" presStyleCnt="0"/>
      <dgm:spPr/>
    </dgm:pt>
    <dgm:pt modelId="{D10B18A0-7C53-42ED-9109-73404A78142F}" type="pres">
      <dgm:prSet presAssocID="{B5FD19D9-F6F9-4257-AB07-36789FEA59C7}" presName="textRect" presStyleLbl="revTx" presStyleIdx="1" presStyleCnt="7">
        <dgm:presLayoutVars>
          <dgm:chMax val="1"/>
          <dgm:chPref val="1"/>
        </dgm:presLayoutVars>
      </dgm:prSet>
      <dgm:spPr/>
    </dgm:pt>
    <dgm:pt modelId="{AC19972C-5E34-4922-A943-1E28ACE6FF69}" type="pres">
      <dgm:prSet presAssocID="{6EB68F48-35B0-46C7-BA96-61D3E3205885}" presName="sibTrans" presStyleCnt="0"/>
      <dgm:spPr/>
    </dgm:pt>
    <dgm:pt modelId="{FAD7C8EC-208E-4E3C-8CEA-B31E48205C33}" type="pres">
      <dgm:prSet presAssocID="{2772B171-0F6F-4B8B-9C45-6DD0E8C01293}" presName="compNode" presStyleCnt="0"/>
      <dgm:spPr/>
    </dgm:pt>
    <dgm:pt modelId="{9579DB32-EE32-438C-A57D-4C7AA26D4589}" type="pres">
      <dgm:prSet presAssocID="{2772B171-0F6F-4B8B-9C45-6DD0E8C01293}" presName="iconRect" presStyleLbl="node1" presStyleIdx="2" presStyleCnt="7" custLinFactNeighborX="-54432" custLinFactNeighborY="-580"/>
      <dgm:spPr>
        <a:blipFill>
          <a:blip xmlns:r="http://schemas.openxmlformats.org/officeDocument/2006/relationships" r:embed="rId3">
            <a:extLst>
              <a:ext uri="{28A0092B-C50C-407E-A947-70E740481C1C}">
                <a14:useLocalDpi xmlns:a14="http://schemas.microsoft.com/office/drawing/2010/main" val="0"/>
              </a:ext>
            </a:extLst>
          </a:blip>
          <a:srcRect/>
          <a:stretch>
            <a:fillRect l="-17000" r="-17000"/>
          </a:stretch>
        </a:blipFill>
      </dgm:spPr>
    </dgm:pt>
    <dgm:pt modelId="{5856C0D8-0D85-47BF-8E33-BD04BDE1004B}" type="pres">
      <dgm:prSet presAssocID="{2772B171-0F6F-4B8B-9C45-6DD0E8C01293}" presName="spaceRect" presStyleCnt="0"/>
      <dgm:spPr/>
    </dgm:pt>
    <dgm:pt modelId="{9A03A648-83D8-4486-A826-AF0E69815F29}" type="pres">
      <dgm:prSet presAssocID="{2772B171-0F6F-4B8B-9C45-6DD0E8C01293}" presName="textRect" presStyleLbl="revTx" presStyleIdx="2" presStyleCnt="7">
        <dgm:presLayoutVars>
          <dgm:chMax val="1"/>
          <dgm:chPref val="1"/>
        </dgm:presLayoutVars>
      </dgm:prSet>
      <dgm:spPr/>
    </dgm:pt>
    <dgm:pt modelId="{3E9C1AEA-11D8-49E2-A190-3CD9EFD77009}" type="pres">
      <dgm:prSet presAssocID="{28232728-4881-4F99-B98B-7500F67B159F}" presName="sibTrans" presStyleCnt="0"/>
      <dgm:spPr/>
    </dgm:pt>
    <dgm:pt modelId="{B8B0531F-D302-4E63-A6BB-C22F2CD65B3B}" type="pres">
      <dgm:prSet presAssocID="{5B3DC9AE-03A8-46A9-B65E-903F5DCD415E}" presName="compNode" presStyleCnt="0"/>
      <dgm:spPr/>
    </dgm:pt>
    <dgm:pt modelId="{D81120DB-63D1-47B7-9B0B-630B401D8671}" type="pres">
      <dgm:prSet presAssocID="{5B3DC9AE-03A8-46A9-B65E-903F5DCD415E}" presName="iconRect" presStyleLbl="node1" presStyleIdx="3" presStyleCnt="7"/>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AE58BF03-9E71-44CD-B027-3A55DCF0A2AD}" type="pres">
      <dgm:prSet presAssocID="{5B3DC9AE-03A8-46A9-B65E-903F5DCD415E}" presName="spaceRect" presStyleCnt="0"/>
      <dgm:spPr/>
    </dgm:pt>
    <dgm:pt modelId="{DDEADC3F-0B4D-40D4-A924-14CB94795616}" type="pres">
      <dgm:prSet presAssocID="{5B3DC9AE-03A8-46A9-B65E-903F5DCD415E}" presName="textRect" presStyleLbl="revTx" presStyleIdx="3" presStyleCnt="7">
        <dgm:presLayoutVars>
          <dgm:chMax val="1"/>
          <dgm:chPref val="1"/>
        </dgm:presLayoutVars>
      </dgm:prSet>
      <dgm:spPr/>
    </dgm:pt>
    <dgm:pt modelId="{6CCC6CD2-29C1-4D91-BDBD-78C5380EA422}" type="pres">
      <dgm:prSet presAssocID="{708BC760-E7C4-4408-AA57-4A46579FE1C4}" presName="sibTrans" presStyleCnt="0"/>
      <dgm:spPr/>
    </dgm:pt>
    <dgm:pt modelId="{611DC914-72B4-4EE9-A984-318712070EC0}" type="pres">
      <dgm:prSet presAssocID="{0263C244-D953-48DA-B120-33552BB05F79}" presName="compNode" presStyleCnt="0"/>
      <dgm:spPr/>
    </dgm:pt>
    <dgm:pt modelId="{3C8E1641-F21E-4B4B-8286-67A373286ACD}" type="pres">
      <dgm:prSet presAssocID="{0263C244-D953-48DA-B120-33552BB05F79}" presName="iconRect" presStyleLbl="node1" presStyleIdx="4" presStyleCnt="7"/>
      <dgm:spPr>
        <a:blipFill>
          <a:blip xmlns:r="http://schemas.openxmlformats.org/officeDocument/2006/relationships" r:embed="rId5">
            <a:extLst>
              <a:ext uri="{28A0092B-C50C-407E-A947-70E740481C1C}">
                <a14:useLocalDpi xmlns:a14="http://schemas.microsoft.com/office/drawing/2010/main" val="0"/>
              </a:ext>
            </a:extLst>
          </a:blip>
          <a:srcRect/>
          <a:stretch>
            <a:fillRect l="-29000" r="-29000"/>
          </a:stretch>
        </a:blipFill>
      </dgm:spPr>
    </dgm:pt>
    <dgm:pt modelId="{9EF32E2E-C9C8-4AE2-92E2-8E9FADE1ACDE}" type="pres">
      <dgm:prSet presAssocID="{0263C244-D953-48DA-B120-33552BB05F79}" presName="spaceRect" presStyleCnt="0"/>
      <dgm:spPr/>
    </dgm:pt>
    <dgm:pt modelId="{D5DAEDD0-F8A0-4A36-A207-5F0B1B19FE03}" type="pres">
      <dgm:prSet presAssocID="{0263C244-D953-48DA-B120-33552BB05F79}" presName="textRect" presStyleLbl="revTx" presStyleIdx="4" presStyleCnt="7">
        <dgm:presLayoutVars>
          <dgm:chMax val="1"/>
          <dgm:chPref val="1"/>
        </dgm:presLayoutVars>
      </dgm:prSet>
      <dgm:spPr/>
    </dgm:pt>
    <dgm:pt modelId="{E431D04E-CCB9-4060-9649-0FA5E26CB73A}" type="pres">
      <dgm:prSet presAssocID="{8F94F48B-6D3D-4C81-B18B-EEAACD0571BF}" presName="sibTrans" presStyleCnt="0"/>
      <dgm:spPr/>
    </dgm:pt>
    <dgm:pt modelId="{D26E689E-89E8-4258-B0E2-55BBE5620B01}" type="pres">
      <dgm:prSet presAssocID="{171D90DD-74B9-4B73-992A-0BA4330258A4}" presName="compNode" presStyleCnt="0"/>
      <dgm:spPr/>
    </dgm:pt>
    <dgm:pt modelId="{F3F140B1-F572-4DCE-B231-57D032C40CF2}" type="pres">
      <dgm:prSet presAssocID="{171D90DD-74B9-4B73-992A-0BA4330258A4}" presName="iconRect" presStyleLbl="node1" presStyleIdx="5" presStyleCnt="7" custLinFactX="87026" custLinFactY="-100000" custLinFactNeighborX="100000" custLinFactNeighborY="-185821"/>
      <dgm:spPr>
        <a:blipFill>
          <a:blip xmlns:r="http://schemas.openxmlformats.org/officeDocument/2006/relationships" r:embed="rId6">
            <a:extLst>
              <a:ext uri="{28A0092B-C50C-407E-A947-70E740481C1C}">
                <a14:useLocalDpi xmlns:a14="http://schemas.microsoft.com/office/drawing/2010/main" val="0"/>
              </a:ext>
            </a:extLst>
          </a:blip>
          <a:srcRect/>
          <a:stretch>
            <a:fillRect/>
          </a:stretch>
        </a:blipFill>
      </dgm:spPr>
    </dgm:pt>
    <dgm:pt modelId="{F0FF5B71-5F60-44D3-8C19-B32504F44DFB}" type="pres">
      <dgm:prSet presAssocID="{171D90DD-74B9-4B73-992A-0BA4330258A4}" presName="spaceRect" presStyleCnt="0"/>
      <dgm:spPr/>
    </dgm:pt>
    <dgm:pt modelId="{DB61B584-A4E5-4A72-B864-963C7A4A1CBF}" type="pres">
      <dgm:prSet presAssocID="{171D90DD-74B9-4B73-992A-0BA4330258A4}" presName="textRect" presStyleLbl="revTx" presStyleIdx="5" presStyleCnt="7">
        <dgm:presLayoutVars>
          <dgm:chMax val="1"/>
          <dgm:chPref val="1"/>
        </dgm:presLayoutVars>
      </dgm:prSet>
      <dgm:spPr/>
    </dgm:pt>
    <dgm:pt modelId="{FD1B332E-B715-430D-AFCB-8137459FAAEF}" type="pres">
      <dgm:prSet presAssocID="{90CF505F-1E04-4342-A8B1-A9F03E4FB3B7}" presName="sibTrans" presStyleCnt="0"/>
      <dgm:spPr/>
    </dgm:pt>
    <dgm:pt modelId="{3338EA7E-81BE-47AB-95AC-B27AC0FF7E8D}" type="pres">
      <dgm:prSet presAssocID="{06DE42B2-60A9-4890-A5F7-C7924AEAA3F2}" presName="compNode" presStyleCnt="0"/>
      <dgm:spPr/>
    </dgm:pt>
    <dgm:pt modelId="{9C2FF3DC-9571-4DC6-8801-A238C9602D4B}" type="pres">
      <dgm:prSet presAssocID="{06DE42B2-60A9-4890-A5F7-C7924AEAA3F2}" presName="iconRect" presStyleLbl="node1" presStyleIdx="6" presStyleCnt="7"/>
      <dgm:spPr>
        <a:blipFill>
          <a:blip xmlns:r="http://schemas.openxmlformats.org/officeDocument/2006/relationships" r:embed="rId7">
            <a:extLst>
              <a:ext uri="{28A0092B-C50C-407E-A947-70E740481C1C}">
                <a14:useLocalDpi xmlns:a14="http://schemas.microsoft.com/office/drawing/2010/main" val="0"/>
              </a:ext>
            </a:extLst>
          </a:blip>
          <a:srcRect/>
          <a:stretch>
            <a:fillRect l="-30000" r="-30000"/>
          </a:stretch>
        </a:blipFill>
      </dgm:spPr>
    </dgm:pt>
    <dgm:pt modelId="{2AE62818-098C-4956-A16C-007D67C173CE}" type="pres">
      <dgm:prSet presAssocID="{06DE42B2-60A9-4890-A5F7-C7924AEAA3F2}" presName="spaceRect" presStyleCnt="0"/>
      <dgm:spPr/>
    </dgm:pt>
    <dgm:pt modelId="{D421518C-9251-448B-B829-2B9EF06B9658}" type="pres">
      <dgm:prSet presAssocID="{06DE42B2-60A9-4890-A5F7-C7924AEAA3F2}" presName="textRect" presStyleLbl="revTx" presStyleIdx="6" presStyleCnt="7">
        <dgm:presLayoutVars>
          <dgm:chMax val="1"/>
          <dgm:chPref val="1"/>
        </dgm:presLayoutVars>
      </dgm:prSet>
      <dgm:spPr/>
    </dgm:pt>
  </dgm:ptLst>
  <dgm:cxnLst>
    <dgm:cxn modelId="{17E2A408-2151-49B0-9630-B02B8E0AE278}" type="presOf" srcId="{2772B171-0F6F-4B8B-9C45-6DD0E8C01293}" destId="{9A03A648-83D8-4486-A826-AF0E69815F29}" srcOrd="0" destOrd="0" presId="urn:microsoft.com/office/officeart/2018/2/layout/IconLabelList"/>
    <dgm:cxn modelId="{50398B25-BB43-49D9-B3FF-102E7B923544}" type="presOf" srcId="{06DE42B2-60A9-4890-A5F7-C7924AEAA3F2}" destId="{D421518C-9251-448B-B829-2B9EF06B9658}" srcOrd="0" destOrd="0" presId="urn:microsoft.com/office/officeart/2018/2/layout/IconLabelList"/>
    <dgm:cxn modelId="{91899B30-C1D8-403F-AC28-E0881207F874}" type="presOf" srcId="{171D90DD-74B9-4B73-992A-0BA4330258A4}" destId="{DB61B584-A4E5-4A72-B864-963C7A4A1CBF}" srcOrd="0" destOrd="0" presId="urn:microsoft.com/office/officeart/2018/2/layout/IconLabelList"/>
    <dgm:cxn modelId="{032A0535-AB53-40CF-B741-208CF1A5A828}" srcId="{C1403B67-F0B0-4799-886B-ABEC099624B5}" destId="{2693A169-8122-4800-927C-762D37DA292A}" srcOrd="0" destOrd="0" parTransId="{3E7D86D9-67E0-4107-B24A-B25EFA03AF36}" sibTransId="{11C6D1C6-C61C-4D26-A4F5-5DCDBFC68EE6}"/>
    <dgm:cxn modelId="{F3FA023A-94F5-49B6-B373-4BE1C894B32A}" srcId="{C1403B67-F0B0-4799-886B-ABEC099624B5}" destId="{06DE42B2-60A9-4890-A5F7-C7924AEAA3F2}" srcOrd="6" destOrd="0" parTransId="{EA4D8E5F-0B44-4558-811B-8A0D163BBF23}" sibTransId="{83768249-9F2F-4D77-B48D-0B4146039395}"/>
    <dgm:cxn modelId="{39B7454A-4491-4F86-A227-47E08CD2F9D4}" srcId="{C1403B67-F0B0-4799-886B-ABEC099624B5}" destId="{5B3DC9AE-03A8-46A9-B65E-903F5DCD415E}" srcOrd="3" destOrd="0" parTransId="{F46B6808-ECE6-47BE-85AB-0F8112027EEC}" sibTransId="{708BC760-E7C4-4408-AA57-4A46579FE1C4}"/>
    <dgm:cxn modelId="{5450104D-8CF3-4B5C-B14C-577FDA2B805C}" type="presOf" srcId="{2693A169-8122-4800-927C-762D37DA292A}" destId="{A6E0C179-336C-4484-B269-D019D8AEC348}" srcOrd="0" destOrd="0" presId="urn:microsoft.com/office/officeart/2018/2/layout/IconLabelList"/>
    <dgm:cxn modelId="{0706B162-56AD-4939-991D-9EA1188E1D8F}" srcId="{C1403B67-F0B0-4799-886B-ABEC099624B5}" destId="{B5FD19D9-F6F9-4257-AB07-36789FEA59C7}" srcOrd="1" destOrd="0" parTransId="{D3BE4E08-79A6-4596-A764-975B3BEDDE82}" sibTransId="{6EB68F48-35B0-46C7-BA96-61D3E3205885}"/>
    <dgm:cxn modelId="{B73B9F6B-8AFD-4321-AFD1-E7629E6C930C}" type="presOf" srcId="{5B3DC9AE-03A8-46A9-B65E-903F5DCD415E}" destId="{DDEADC3F-0B4D-40D4-A924-14CB94795616}" srcOrd="0" destOrd="0" presId="urn:microsoft.com/office/officeart/2018/2/layout/IconLabelList"/>
    <dgm:cxn modelId="{90101871-232C-43A1-9E91-AAEDA3A40A00}" srcId="{C1403B67-F0B0-4799-886B-ABEC099624B5}" destId="{2772B171-0F6F-4B8B-9C45-6DD0E8C01293}" srcOrd="2" destOrd="0" parTransId="{00662032-75D2-4E79-9ABE-00924B51D3C8}" sibTransId="{28232728-4881-4F99-B98B-7500F67B159F}"/>
    <dgm:cxn modelId="{2284E477-2959-4B02-812B-45E7579A96C2}" type="presOf" srcId="{0263C244-D953-48DA-B120-33552BB05F79}" destId="{D5DAEDD0-F8A0-4A36-A207-5F0B1B19FE03}" srcOrd="0" destOrd="0" presId="urn:microsoft.com/office/officeart/2018/2/layout/IconLabelList"/>
    <dgm:cxn modelId="{B679367A-1AED-436B-9D69-491B6817CBF1}" type="presOf" srcId="{B5FD19D9-F6F9-4257-AB07-36789FEA59C7}" destId="{D10B18A0-7C53-42ED-9109-73404A78142F}" srcOrd="0" destOrd="0" presId="urn:microsoft.com/office/officeart/2018/2/layout/IconLabelList"/>
    <dgm:cxn modelId="{15B2707A-D05D-4E51-8568-C8F875DEAAB4}" type="presOf" srcId="{C1403B67-F0B0-4799-886B-ABEC099624B5}" destId="{5F8ABF75-6556-48D6-ADC9-A9AD2A025ACB}" srcOrd="0" destOrd="0" presId="urn:microsoft.com/office/officeart/2018/2/layout/IconLabelList"/>
    <dgm:cxn modelId="{AA675498-C026-4B21-A7FD-0CF764333C61}" srcId="{C1403B67-F0B0-4799-886B-ABEC099624B5}" destId="{0263C244-D953-48DA-B120-33552BB05F79}" srcOrd="4" destOrd="0" parTransId="{F0952E11-8B12-4C9F-BB90-2781A4205197}" sibTransId="{8F94F48B-6D3D-4C81-B18B-EEAACD0571BF}"/>
    <dgm:cxn modelId="{2B9C1AFF-7D84-413D-81F4-19EF644717FC}" srcId="{C1403B67-F0B0-4799-886B-ABEC099624B5}" destId="{171D90DD-74B9-4B73-992A-0BA4330258A4}" srcOrd="5" destOrd="0" parTransId="{1539AEFF-2979-43C1-943A-4CA37630A481}" sibTransId="{90CF505F-1E04-4342-A8B1-A9F03E4FB3B7}"/>
    <dgm:cxn modelId="{C97196F2-D870-4179-BE82-2E13992DB84F}" type="presParOf" srcId="{5F8ABF75-6556-48D6-ADC9-A9AD2A025ACB}" destId="{985E0DAC-F735-4F30-A49D-9C0B35CA258C}" srcOrd="0" destOrd="0" presId="urn:microsoft.com/office/officeart/2018/2/layout/IconLabelList"/>
    <dgm:cxn modelId="{CC5868A6-D6B8-4DDC-8FBD-1CE233696F0E}" type="presParOf" srcId="{985E0DAC-F735-4F30-A49D-9C0B35CA258C}" destId="{92635252-5DCB-41B0-8E74-E5C7737BC402}" srcOrd="0" destOrd="0" presId="urn:microsoft.com/office/officeart/2018/2/layout/IconLabelList"/>
    <dgm:cxn modelId="{6C9D61A1-1CE6-4E4D-92A8-1017D536FF08}" type="presParOf" srcId="{985E0DAC-F735-4F30-A49D-9C0B35CA258C}" destId="{2B7F5343-AEBC-4464-AD3B-204D1F79822D}" srcOrd="1" destOrd="0" presId="urn:microsoft.com/office/officeart/2018/2/layout/IconLabelList"/>
    <dgm:cxn modelId="{F368784C-130B-4A00-8A6D-8E8B767F3F00}" type="presParOf" srcId="{985E0DAC-F735-4F30-A49D-9C0B35CA258C}" destId="{A6E0C179-336C-4484-B269-D019D8AEC348}" srcOrd="2" destOrd="0" presId="urn:microsoft.com/office/officeart/2018/2/layout/IconLabelList"/>
    <dgm:cxn modelId="{4F9B12E2-8A62-43C8-9527-9D9D6ED1AEA5}" type="presParOf" srcId="{5F8ABF75-6556-48D6-ADC9-A9AD2A025ACB}" destId="{41091C1C-EBC9-4B6B-9325-320472F517EE}" srcOrd="1" destOrd="0" presId="urn:microsoft.com/office/officeart/2018/2/layout/IconLabelList"/>
    <dgm:cxn modelId="{4E8D5211-B651-40D5-A37F-308265B34681}" type="presParOf" srcId="{5F8ABF75-6556-48D6-ADC9-A9AD2A025ACB}" destId="{02632805-6328-4AA0-85C6-79080B397C95}" srcOrd="2" destOrd="0" presId="urn:microsoft.com/office/officeart/2018/2/layout/IconLabelList"/>
    <dgm:cxn modelId="{B56731B5-2A8F-4D6A-AC01-F371AD010219}" type="presParOf" srcId="{02632805-6328-4AA0-85C6-79080B397C95}" destId="{41A2EFCD-C903-4897-AAAB-DD5318E4087A}" srcOrd="0" destOrd="0" presId="urn:microsoft.com/office/officeart/2018/2/layout/IconLabelList"/>
    <dgm:cxn modelId="{BA07010F-2743-4FE5-9006-F98434F14CC6}" type="presParOf" srcId="{02632805-6328-4AA0-85C6-79080B397C95}" destId="{1AE8729A-31CE-4280-AAE0-8AD1BBB15FD2}" srcOrd="1" destOrd="0" presId="urn:microsoft.com/office/officeart/2018/2/layout/IconLabelList"/>
    <dgm:cxn modelId="{8F487237-6DCB-4DB9-A2D1-B11B9B9DD3C7}" type="presParOf" srcId="{02632805-6328-4AA0-85C6-79080B397C95}" destId="{D10B18A0-7C53-42ED-9109-73404A78142F}" srcOrd="2" destOrd="0" presId="urn:microsoft.com/office/officeart/2018/2/layout/IconLabelList"/>
    <dgm:cxn modelId="{22CA81A2-3BAE-48E7-B091-E57BD59E3D2F}" type="presParOf" srcId="{5F8ABF75-6556-48D6-ADC9-A9AD2A025ACB}" destId="{AC19972C-5E34-4922-A943-1E28ACE6FF69}" srcOrd="3" destOrd="0" presId="urn:microsoft.com/office/officeart/2018/2/layout/IconLabelList"/>
    <dgm:cxn modelId="{87E43EE5-2D90-4997-B037-8BA9D8EB675A}" type="presParOf" srcId="{5F8ABF75-6556-48D6-ADC9-A9AD2A025ACB}" destId="{FAD7C8EC-208E-4E3C-8CEA-B31E48205C33}" srcOrd="4" destOrd="0" presId="urn:microsoft.com/office/officeart/2018/2/layout/IconLabelList"/>
    <dgm:cxn modelId="{F85EF8CE-15F0-49F0-9BD9-2AD17E27D503}" type="presParOf" srcId="{FAD7C8EC-208E-4E3C-8CEA-B31E48205C33}" destId="{9579DB32-EE32-438C-A57D-4C7AA26D4589}" srcOrd="0" destOrd="0" presId="urn:microsoft.com/office/officeart/2018/2/layout/IconLabelList"/>
    <dgm:cxn modelId="{1C0BC956-1159-4E5E-84C9-C7FA09CBA412}" type="presParOf" srcId="{FAD7C8EC-208E-4E3C-8CEA-B31E48205C33}" destId="{5856C0D8-0D85-47BF-8E33-BD04BDE1004B}" srcOrd="1" destOrd="0" presId="urn:microsoft.com/office/officeart/2018/2/layout/IconLabelList"/>
    <dgm:cxn modelId="{5184BE1C-C6DE-46C9-8A7E-2A6B109B2100}" type="presParOf" srcId="{FAD7C8EC-208E-4E3C-8CEA-B31E48205C33}" destId="{9A03A648-83D8-4486-A826-AF0E69815F29}" srcOrd="2" destOrd="0" presId="urn:microsoft.com/office/officeart/2018/2/layout/IconLabelList"/>
    <dgm:cxn modelId="{BA564F32-4636-45F8-8936-90CA5A03C8A8}" type="presParOf" srcId="{5F8ABF75-6556-48D6-ADC9-A9AD2A025ACB}" destId="{3E9C1AEA-11D8-49E2-A190-3CD9EFD77009}" srcOrd="5" destOrd="0" presId="urn:microsoft.com/office/officeart/2018/2/layout/IconLabelList"/>
    <dgm:cxn modelId="{5EFC5219-C447-4E46-81E7-6CBBF374A518}" type="presParOf" srcId="{5F8ABF75-6556-48D6-ADC9-A9AD2A025ACB}" destId="{B8B0531F-D302-4E63-A6BB-C22F2CD65B3B}" srcOrd="6" destOrd="0" presId="urn:microsoft.com/office/officeart/2018/2/layout/IconLabelList"/>
    <dgm:cxn modelId="{3DC7E49B-74ED-4893-99AB-7D74FCA4C661}" type="presParOf" srcId="{B8B0531F-D302-4E63-A6BB-C22F2CD65B3B}" destId="{D81120DB-63D1-47B7-9B0B-630B401D8671}" srcOrd="0" destOrd="0" presId="urn:microsoft.com/office/officeart/2018/2/layout/IconLabelList"/>
    <dgm:cxn modelId="{EECA0D99-C086-4162-B830-83EC87823B5E}" type="presParOf" srcId="{B8B0531F-D302-4E63-A6BB-C22F2CD65B3B}" destId="{AE58BF03-9E71-44CD-B027-3A55DCF0A2AD}" srcOrd="1" destOrd="0" presId="urn:microsoft.com/office/officeart/2018/2/layout/IconLabelList"/>
    <dgm:cxn modelId="{FA884510-93F5-4F08-A5DE-DE3453EF0DA8}" type="presParOf" srcId="{B8B0531F-D302-4E63-A6BB-C22F2CD65B3B}" destId="{DDEADC3F-0B4D-40D4-A924-14CB94795616}" srcOrd="2" destOrd="0" presId="urn:microsoft.com/office/officeart/2018/2/layout/IconLabelList"/>
    <dgm:cxn modelId="{9760A4C1-E8FB-46E7-800B-0FD83B1BE6EE}" type="presParOf" srcId="{5F8ABF75-6556-48D6-ADC9-A9AD2A025ACB}" destId="{6CCC6CD2-29C1-4D91-BDBD-78C5380EA422}" srcOrd="7" destOrd="0" presId="urn:microsoft.com/office/officeart/2018/2/layout/IconLabelList"/>
    <dgm:cxn modelId="{A23C570D-3115-4AE5-98A8-02337708305D}" type="presParOf" srcId="{5F8ABF75-6556-48D6-ADC9-A9AD2A025ACB}" destId="{611DC914-72B4-4EE9-A984-318712070EC0}" srcOrd="8" destOrd="0" presId="urn:microsoft.com/office/officeart/2018/2/layout/IconLabelList"/>
    <dgm:cxn modelId="{5DF38E74-2D58-431B-8E72-9C519BC8D0F8}" type="presParOf" srcId="{611DC914-72B4-4EE9-A984-318712070EC0}" destId="{3C8E1641-F21E-4B4B-8286-67A373286ACD}" srcOrd="0" destOrd="0" presId="urn:microsoft.com/office/officeart/2018/2/layout/IconLabelList"/>
    <dgm:cxn modelId="{F0239561-5D77-4FE9-BB2B-9ED55197AE5E}" type="presParOf" srcId="{611DC914-72B4-4EE9-A984-318712070EC0}" destId="{9EF32E2E-C9C8-4AE2-92E2-8E9FADE1ACDE}" srcOrd="1" destOrd="0" presId="urn:microsoft.com/office/officeart/2018/2/layout/IconLabelList"/>
    <dgm:cxn modelId="{C7DEEE96-63FB-49EF-87A2-A7AC36A3D0A9}" type="presParOf" srcId="{611DC914-72B4-4EE9-A984-318712070EC0}" destId="{D5DAEDD0-F8A0-4A36-A207-5F0B1B19FE03}" srcOrd="2" destOrd="0" presId="urn:microsoft.com/office/officeart/2018/2/layout/IconLabelList"/>
    <dgm:cxn modelId="{8B5F8830-986B-4337-9FEF-BF8FB229FC72}" type="presParOf" srcId="{5F8ABF75-6556-48D6-ADC9-A9AD2A025ACB}" destId="{E431D04E-CCB9-4060-9649-0FA5E26CB73A}" srcOrd="9" destOrd="0" presId="urn:microsoft.com/office/officeart/2018/2/layout/IconLabelList"/>
    <dgm:cxn modelId="{DBB21DAF-05D6-4DFC-8741-ADE8024940AF}" type="presParOf" srcId="{5F8ABF75-6556-48D6-ADC9-A9AD2A025ACB}" destId="{D26E689E-89E8-4258-B0E2-55BBE5620B01}" srcOrd="10" destOrd="0" presId="urn:microsoft.com/office/officeart/2018/2/layout/IconLabelList"/>
    <dgm:cxn modelId="{23B3937A-05FF-45A1-8468-663F78FC8356}" type="presParOf" srcId="{D26E689E-89E8-4258-B0E2-55BBE5620B01}" destId="{F3F140B1-F572-4DCE-B231-57D032C40CF2}" srcOrd="0" destOrd="0" presId="urn:microsoft.com/office/officeart/2018/2/layout/IconLabelList"/>
    <dgm:cxn modelId="{79D8F353-020A-41C3-A762-D17B800BCB0C}" type="presParOf" srcId="{D26E689E-89E8-4258-B0E2-55BBE5620B01}" destId="{F0FF5B71-5F60-44D3-8C19-B32504F44DFB}" srcOrd="1" destOrd="0" presId="urn:microsoft.com/office/officeart/2018/2/layout/IconLabelList"/>
    <dgm:cxn modelId="{76695A2F-9F16-4162-BE47-9D30B19EBA69}" type="presParOf" srcId="{D26E689E-89E8-4258-B0E2-55BBE5620B01}" destId="{DB61B584-A4E5-4A72-B864-963C7A4A1CBF}" srcOrd="2" destOrd="0" presId="urn:microsoft.com/office/officeart/2018/2/layout/IconLabelList"/>
    <dgm:cxn modelId="{6028D300-C63B-4EA0-9364-94ED807D61F1}" type="presParOf" srcId="{5F8ABF75-6556-48D6-ADC9-A9AD2A025ACB}" destId="{FD1B332E-B715-430D-AFCB-8137459FAAEF}" srcOrd="11" destOrd="0" presId="urn:microsoft.com/office/officeart/2018/2/layout/IconLabelList"/>
    <dgm:cxn modelId="{B005286F-03B5-47C0-AB05-6B3AB93985F8}" type="presParOf" srcId="{5F8ABF75-6556-48D6-ADC9-A9AD2A025ACB}" destId="{3338EA7E-81BE-47AB-95AC-B27AC0FF7E8D}" srcOrd="12" destOrd="0" presId="urn:microsoft.com/office/officeart/2018/2/layout/IconLabelList"/>
    <dgm:cxn modelId="{C89667E7-1406-4169-9AC3-84EECE1AB389}" type="presParOf" srcId="{3338EA7E-81BE-47AB-95AC-B27AC0FF7E8D}" destId="{9C2FF3DC-9571-4DC6-8801-A238C9602D4B}" srcOrd="0" destOrd="0" presId="urn:microsoft.com/office/officeart/2018/2/layout/IconLabelList"/>
    <dgm:cxn modelId="{2B551461-1917-43FF-B29C-978872116E92}" type="presParOf" srcId="{3338EA7E-81BE-47AB-95AC-B27AC0FF7E8D}" destId="{2AE62818-098C-4956-A16C-007D67C173CE}" srcOrd="1" destOrd="0" presId="urn:microsoft.com/office/officeart/2018/2/layout/IconLabelList"/>
    <dgm:cxn modelId="{27D7F290-C067-4603-A404-65B62F9E1DB5}" type="presParOf" srcId="{3338EA7E-81BE-47AB-95AC-B27AC0FF7E8D}" destId="{D421518C-9251-448B-B829-2B9EF06B9658}"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35252-5DCB-41B0-8E74-E5C7737BC402}">
      <dsp:nvSpPr>
        <dsp:cNvPr id="0" name=""/>
        <dsp:cNvSpPr/>
      </dsp:nvSpPr>
      <dsp:spPr>
        <a:xfrm>
          <a:off x="479558" y="585211"/>
          <a:ext cx="779941" cy="77994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E0C179-336C-4484-B269-D019D8AEC348}">
      <dsp:nvSpPr>
        <dsp:cNvPr id="0" name=""/>
        <dsp:cNvSpPr/>
      </dsp:nvSpPr>
      <dsp:spPr>
        <a:xfrm>
          <a:off x="2927" y="1675391"/>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Adidas</a:t>
          </a:r>
          <a:r>
            <a:rPr lang="en-US" sz="1400" kern="1200" dirty="0"/>
            <a:t> (since 1970, match ball supplier)</a:t>
          </a:r>
        </a:p>
      </dsp:txBody>
      <dsp:txXfrm>
        <a:off x="2927" y="1675391"/>
        <a:ext cx="1733203" cy="693281"/>
      </dsp:txXfrm>
    </dsp:sp>
    <dsp:sp modelId="{41A2EFCD-C903-4897-AAAB-DD5318E4087A}">
      <dsp:nvSpPr>
        <dsp:cNvPr id="0" name=""/>
        <dsp:cNvSpPr/>
      </dsp:nvSpPr>
      <dsp:spPr>
        <a:xfrm>
          <a:off x="2516072" y="585211"/>
          <a:ext cx="779941" cy="77994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7000" r="-1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0B18A0-7C53-42ED-9109-73404A78142F}">
      <dsp:nvSpPr>
        <dsp:cNvPr id="0" name=""/>
        <dsp:cNvSpPr/>
      </dsp:nvSpPr>
      <dsp:spPr>
        <a:xfrm>
          <a:off x="2039441" y="1675391"/>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a:t>Coca-Cola</a:t>
          </a:r>
          <a:r>
            <a:rPr lang="en-US" sz="1400" kern="1200"/>
            <a:t> (since 1978, beverage)</a:t>
          </a:r>
        </a:p>
      </dsp:txBody>
      <dsp:txXfrm>
        <a:off x="2039441" y="1675391"/>
        <a:ext cx="1733203" cy="693281"/>
      </dsp:txXfrm>
    </dsp:sp>
    <dsp:sp modelId="{9579DB32-EE32-438C-A57D-4C7AA26D4589}">
      <dsp:nvSpPr>
        <dsp:cNvPr id="0" name=""/>
        <dsp:cNvSpPr/>
      </dsp:nvSpPr>
      <dsp:spPr>
        <a:xfrm>
          <a:off x="4128048" y="580687"/>
          <a:ext cx="779941" cy="77994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7000" r="-1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3A648-83D8-4486-A826-AF0E69815F29}">
      <dsp:nvSpPr>
        <dsp:cNvPr id="0" name=""/>
        <dsp:cNvSpPr/>
      </dsp:nvSpPr>
      <dsp:spPr>
        <a:xfrm>
          <a:off x="4075955" y="1675391"/>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Hyundai/Kia </a:t>
          </a:r>
          <a:r>
            <a:rPr lang="en-US" sz="1400" kern="1200" dirty="0"/>
            <a:t>(automotive)</a:t>
          </a:r>
        </a:p>
      </dsp:txBody>
      <dsp:txXfrm>
        <a:off x="4075955" y="1675391"/>
        <a:ext cx="1733203" cy="693281"/>
      </dsp:txXfrm>
    </dsp:sp>
    <dsp:sp modelId="{D81120DB-63D1-47B7-9B0B-630B401D8671}">
      <dsp:nvSpPr>
        <dsp:cNvPr id="0" name=""/>
        <dsp:cNvSpPr/>
      </dsp:nvSpPr>
      <dsp:spPr>
        <a:xfrm>
          <a:off x="6589099" y="585211"/>
          <a:ext cx="779941" cy="779941"/>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EADC3F-0B4D-40D4-A924-14CB94795616}">
      <dsp:nvSpPr>
        <dsp:cNvPr id="0" name=""/>
        <dsp:cNvSpPr/>
      </dsp:nvSpPr>
      <dsp:spPr>
        <a:xfrm>
          <a:off x="6112468" y="1675391"/>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a:t>Qatar Airways </a:t>
          </a:r>
          <a:r>
            <a:rPr lang="en-US" sz="1400" kern="1200"/>
            <a:t>(through 2030, airline)</a:t>
          </a:r>
        </a:p>
      </dsp:txBody>
      <dsp:txXfrm>
        <a:off x="6112468" y="1675391"/>
        <a:ext cx="1733203" cy="693281"/>
      </dsp:txXfrm>
    </dsp:sp>
    <dsp:sp modelId="{3C8E1641-F21E-4B4B-8286-67A373286ACD}">
      <dsp:nvSpPr>
        <dsp:cNvPr id="0" name=""/>
        <dsp:cNvSpPr/>
      </dsp:nvSpPr>
      <dsp:spPr>
        <a:xfrm>
          <a:off x="1497815" y="2801973"/>
          <a:ext cx="779941" cy="779941"/>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29000" r="-2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DAEDD0-F8A0-4A36-A207-5F0B1B19FE03}">
      <dsp:nvSpPr>
        <dsp:cNvPr id="0" name=""/>
        <dsp:cNvSpPr/>
      </dsp:nvSpPr>
      <dsp:spPr>
        <a:xfrm>
          <a:off x="1021184" y="3892153"/>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Visa</a:t>
          </a:r>
          <a:r>
            <a:rPr lang="en-US" sz="1400" kern="1200" dirty="0"/>
            <a:t> (payment technology)</a:t>
          </a:r>
        </a:p>
      </dsp:txBody>
      <dsp:txXfrm>
        <a:off x="1021184" y="3892153"/>
        <a:ext cx="1733203" cy="693281"/>
      </dsp:txXfrm>
    </dsp:sp>
    <dsp:sp modelId="{F3F140B1-F572-4DCE-B231-57D032C40CF2}">
      <dsp:nvSpPr>
        <dsp:cNvPr id="0" name=""/>
        <dsp:cNvSpPr/>
      </dsp:nvSpPr>
      <dsp:spPr>
        <a:xfrm>
          <a:off x="4993022" y="572737"/>
          <a:ext cx="779941" cy="779941"/>
        </a:xfrm>
        <a:prstGeom prst="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61B584-A4E5-4A72-B864-963C7A4A1CBF}">
      <dsp:nvSpPr>
        <dsp:cNvPr id="0" name=""/>
        <dsp:cNvSpPr/>
      </dsp:nvSpPr>
      <dsp:spPr>
        <a:xfrm>
          <a:off x="3057698" y="3892153"/>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a:t>Aramco</a:t>
          </a:r>
          <a:r>
            <a:rPr lang="en-US" sz="1400" kern="1200"/>
            <a:t> (energy, 2024–2027)</a:t>
          </a:r>
        </a:p>
      </dsp:txBody>
      <dsp:txXfrm>
        <a:off x="3057698" y="3892153"/>
        <a:ext cx="1733203" cy="693281"/>
      </dsp:txXfrm>
    </dsp:sp>
    <dsp:sp modelId="{9C2FF3DC-9571-4DC6-8801-A238C9602D4B}">
      <dsp:nvSpPr>
        <dsp:cNvPr id="0" name=""/>
        <dsp:cNvSpPr/>
      </dsp:nvSpPr>
      <dsp:spPr>
        <a:xfrm>
          <a:off x="5570842" y="2801973"/>
          <a:ext cx="779941" cy="779941"/>
        </a:xfrm>
        <a:prstGeom prst="rect">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l="-30000" r="-3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21518C-9251-448B-B829-2B9EF06B9658}">
      <dsp:nvSpPr>
        <dsp:cNvPr id="0" name=""/>
        <dsp:cNvSpPr/>
      </dsp:nvSpPr>
      <dsp:spPr>
        <a:xfrm>
          <a:off x="5094212" y="3892153"/>
          <a:ext cx="1733203" cy="69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a:t>Bank of America </a:t>
          </a:r>
          <a:r>
            <a:rPr lang="en-US" sz="1400" kern="1200"/>
            <a:t>(banking, 2024)</a:t>
          </a:r>
        </a:p>
      </dsp:txBody>
      <dsp:txXfrm>
        <a:off x="5094212" y="3892153"/>
        <a:ext cx="1733203" cy="69328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32FC57-E1F8-4F59-A87C-2833007EAF57}" type="datetimeFigureOut">
              <a:rPr lang="en-US" smtClean="0"/>
              <a:t>2/25/25</a:t>
            </a:fld>
            <a:endParaRPr lang="en-US"/>
          </a:p>
        </p:txBody>
      </p:sp>
      <p:sp>
        <p:nvSpPr>
          <p:cNvPr id="4" name="Footer Placeholder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8A06BE-7519-4B21-9E1D-AE6D6E69C38F}" type="slidenum">
              <a:rPr lang="en-US" smtClean="0"/>
              <a:t>‹#›</a:t>
            </a:fld>
            <a:endParaRPr lang="en-US"/>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ACAC0-59EA-4916-9995-398D6BEB88C3}" type="datetimeFigureOut">
              <a:rPr lang="en-US" smtClean="0"/>
              <a:t>2/25/25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B2C62-FE30-453D-946B-754E9E42C845}" type="slidenum">
              <a:rPr lang="en-US" smtClean="0"/>
              <a:t>‹#›</a:t>
            </a:fld>
            <a:endParaRPr lang="en-US"/>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spacing + Page numbers</a:t>
            </a:r>
          </a:p>
        </p:txBody>
      </p:sp>
      <p:sp>
        <p:nvSpPr>
          <p:cNvPr id="4" name="Slide Number Placeholder 3"/>
          <p:cNvSpPr>
            <a:spLocks noGrp="1"/>
          </p:cNvSpPr>
          <p:nvPr>
            <p:ph type="sldNum" sz="quarter" idx="5"/>
          </p:nvPr>
        </p:nvSpPr>
        <p:spPr/>
        <p:txBody>
          <a:bodyPr/>
          <a:lstStyle/>
          <a:p>
            <a:fld id="{5A9B2C62-FE30-453D-946B-754E9E42C845}" type="slidenum">
              <a:rPr lang="en-US" smtClean="0"/>
              <a:t>1</a:t>
            </a:fld>
            <a:endParaRPr lang="en-US"/>
          </a:p>
        </p:txBody>
      </p:sp>
    </p:spTree>
    <p:extLst>
      <p:ext uri="{BB962C8B-B14F-4D97-AF65-F5344CB8AC3E}">
        <p14:creationId xmlns:p14="http://schemas.microsoft.com/office/powerpoint/2010/main" val="1777375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9B2C62-FE30-453D-946B-754E9E42C845}" type="slidenum">
              <a:rPr lang="en-US" smtClean="0"/>
              <a:t>4</a:t>
            </a:fld>
            <a:endParaRPr lang="en-US"/>
          </a:p>
        </p:txBody>
      </p:sp>
    </p:spTree>
    <p:extLst>
      <p:ext uri="{BB962C8B-B14F-4D97-AF65-F5344CB8AC3E}">
        <p14:creationId xmlns:p14="http://schemas.microsoft.com/office/powerpoint/2010/main" val="685231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9B2C62-FE30-453D-946B-754E9E42C845}" type="slidenum">
              <a:rPr lang="en-US" smtClean="0"/>
              <a:t>5</a:t>
            </a:fld>
            <a:endParaRPr lang="en-US"/>
          </a:p>
        </p:txBody>
      </p:sp>
    </p:spTree>
    <p:extLst>
      <p:ext uri="{BB962C8B-B14F-4D97-AF65-F5344CB8AC3E}">
        <p14:creationId xmlns:p14="http://schemas.microsoft.com/office/powerpoint/2010/main" val="2744138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9B2C62-FE30-453D-946B-754E9E42C845}" type="slidenum">
              <a:rPr lang="en-US" smtClean="0"/>
              <a:t>9</a:t>
            </a:fld>
            <a:endParaRPr lang="en-US"/>
          </a:p>
        </p:txBody>
      </p:sp>
    </p:spTree>
    <p:extLst>
      <p:ext uri="{BB962C8B-B14F-4D97-AF65-F5344CB8AC3E}">
        <p14:creationId xmlns:p14="http://schemas.microsoft.com/office/powerpoint/2010/main" val="1133221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9B2C62-FE30-453D-946B-754E9E42C845}" type="slidenum">
              <a:rPr lang="en-US" smtClean="0"/>
              <a:t>11</a:t>
            </a:fld>
            <a:endParaRPr lang="en-US"/>
          </a:p>
        </p:txBody>
      </p:sp>
    </p:spTree>
    <p:extLst>
      <p:ext uri="{BB962C8B-B14F-4D97-AF65-F5344CB8AC3E}">
        <p14:creationId xmlns:p14="http://schemas.microsoft.com/office/powerpoint/2010/main" val="3161783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9B2C62-FE30-453D-946B-754E9E42C845}" type="slidenum">
              <a:rPr lang="en-US" smtClean="0"/>
              <a:t>12</a:t>
            </a:fld>
            <a:endParaRPr lang="en-US"/>
          </a:p>
        </p:txBody>
      </p:sp>
    </p:spTree>
    <p:extLst>
      <p:ext uri="{BB962C8B-B14F-4D97-AF65-F5344CB8AC3E}">
        <p14:creationId xmlns:p14="http://schemas.microsoft.com/office/powerpoint/2010/main" val="3866615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2/25/25</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2/25/25</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2/25/25</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2/25/25</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2/25/25</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a:t>Click icon to add picture</a:t>
            </a:r>
            <a:endParaRPr lang="en-US" dirty="0"/>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2/25/25</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2/25/25</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2/25/25</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2/25/25</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a:t>Click icon to add picture</a:t>
            </a:r>
            <a:endParaRPr lang="en-US" dirty="0"/>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a:t>Click icon to add picture</a:t>
            </a:r>
            <a:endParaRPr lang="en-US" dirty="0"/>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2/25/25</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2/25/25</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3">
            <a:extLst>
              <a:ext uri="{FF2B5EF4-FFF2-40B4-BE49-F238E27FC236}">
                <a16:creationId xmlns:a16="http://schemas.microsoft.com/office/drawing/2014/main" id="{E90ADA7B-C894-CA33-5F86-7BDE1750BC81}"/>
              </a:ext>
            </a:extLst>
          </p:cNvPr>
          <p:cNvSpPr>
            <a:spLocks noGrp="1"/>
          </p:cNvSpPr>
          <p:nvPr>
            <p:ph type="dt" sz="half" idx="2"/>
          </p:nvPr>
        </p:nvSpPr>
        <p:spPr>
          <a:xfrm>
            <a:off x="133350" y="6486982"/>
            <a:ext cx="2743200" cy="365125"/>
          </a:xfrm>
        </p:spPr>
        <p:txBody>
          <a:bodyPr anchor="ctr">
            <a:normAutofit/>
          </a:bodyPr>
          <a:lstStyle/>
          <a:p>
            <a:pPr>
              <a:spcAft>
                <a:spcPts val="600"/>
              </a:spcAft>
            </a:pPr>
            <a:fld id="{137AE72A-09B6-4D56-855D-4360BD347914}" type="datetime1">
              <a:rPr lang="en-US" smtClean="0"/>
              <a:pPr>
                <a:spcAft>
                  <a:spcPts val="600"/>
                </a:spcAft>
              </a:pPr>
              <a:t>2/25/25</a:t>
            </a:fld>
            <a:endParaRPr lang="en-US"/>
          </a:p>
        </p:txBody>
      </p:sp>
      <p:sp>
        <p:nvSpPr>
          <p:cNvPr id="25" name="Slide Number Placeholder 4">
            <a:extLst>
              <a:ext uri="{FF2B5EF4-FFF2-40B4-BE49-F238E27FC236}">
                <a16:creationId xmlns:a16="http://schemas.microsoft.com/office/drawing/2014/main" id="{5F2B4FEB-2003-F278-B1CA-9948F4310AC7}"/>
              </a:ext>
            </a:extLst>
          </p:cNvPr>
          <p:cNvSpPr>
            <a:spLocks noGrp="1"/>
          </p:cNvSpPr>
          <p:nvPr>
            <p:ph type="sldNum" sz="quarter" idx="4"/>
          </p:nvPr>
        </p:nvSpPr>
        <p:spPr>
          <a:xfrm>
            <a:off x="9315450" y="6486982"/>
            <a:ext cx="2743200" cy="365125"/>
          </a:xfrm>
        </p:spPr>
        <p:txBody>
          <a:bodyPr anchor="ctr">
            <a:normAutofit/>
          </a:bodyPr>
          <a:lstStyle/>
          <a:p>
            <a:pPr>
              <a:spcAft>
                <a:spcPts val="600"/>
              </a:spcAft>
            </a:pPr>
            <a:fld id="{294A09A9-5501-47C1-A89A-A340965A2BE2}" type="slidenum">
              <a:rPr lang="en-US" smtClean="0"/>
              <a:pPr>
                <a:spcAft>
                  <a:spcPts val="600"/>
                </a:spcAft>
              </a:pPr>
              <a:t>1</a:t>
            </a:fld>
            <a:endParaRPr lang="en-US"/>
          </a:p>
        </p:txBody>
      </p:sp>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171450" y="429000"/>
            <a:ext cx="11887200" cy="1325563"/>
          </a:xfrm>
        </p:spPr>
        <p:txBody>
          <a:bodyPr anchor="ctr">
            <a:noAutofit/>
          </a:bodyPr>
          <a:lstStyle/>
          <a:p>
            <a:r>
              <a:rPr lang="en-US" sz="4000" dirty="0"/>
              <a:t>Sponsorship Proposal: FIFA World Cup 2026</a:t>
            </a:r>
            <a:br>
              <a:rPr lang="en-US" sz="4000" dirty="0"/>
            </a:br>
            <a:endParaRPr lang="en-US" sz="4000" dirty="0"/>
          </a:p>
        </p:txBody>
      </p:sp>
      <p:pic>
        <p:nvPicPr>
          <p:cNvPr id="22" name="Picture Placeholder 21" descr="A gold trophy on a black background&#10;&#10;AI-generated content may be incorrect.">
            <a:extLst>
              <a:ext uri="{FF2B5EF4-FFF2-40B4-BE49-F238E27FC236}">
                <a16:creationId xmlns:a16="http://schemas.microsoft.com/office/drawing/2014/main" id="{136CBE42-EAC6-2CD0-E192-906D955F4EAE}"/>
              </a:ext>
            </a:extLst>
          </p:cNvPr>
          <p:cNvPicPr>
            <a:picLocks noGrp="1" noChangeAspect="1"/>
          </p:cNvPicPr>
          <p:nvPr>
            <p:ph type="pic" sz="quarter" idx="4294967295"/>
          </p:nvPr>
        </p:nvPicPr>
        <p:blipFill>
          <a:blip r:embed="rId3"/>
          <a:srcRect l="17256" r="17258" b="2"/>
          <a:stretch/>
        </p:blipFill>
        <p:spPr>
          <a:xfrm>
            <a:off x="342900" y="1405128"/>
            <a:ext cx="5067300" cy="4352544"/>
          </a:xfrm>
          <a:noFill/>
        </p:spPr>
      </p:pic>
      <p:sp>
        <p:nvSpPr>
          <p:cNvPr id="18" name="Text Placeholder 17">
            <a:extLst>
              <a:ext uri="{FF2B5EF4-FFF2-40B4-BE49-F238E27FC236}">
                <a16:creationId xmlns:a16="http://schemas.microsoft.com/office/drawing/2014/main" id="{27A48A35-E5E4-4A5F-9F91-BAEA4F5DF21D}"/>
              </a:ext>
            </a:extLst>
          </p:cNvPr>
          <p:cNvSpPr>
            <a:spLocks noGrp="1"/>
          </p:cNvSpPr>
          <p:nvPr>
            <p:ph idx="4294967295"/>
          </p:nvPr>
        </p:nvSpPr>
        <p:spPr>
          <a:xfrm>
            <a:off x="5581650" y="2317000"/>
            <a:ext cx="6610350" cy="4352544"/>
          </a:xfrm>
        </p:spPr>
        <p:txBody>
          <a:bodyPr anchor="t">
            <a:normAutofit/>
          </a:bodyPr>
          <a:lstStyle/>
          <a:p>
            <a:pPr marL="0" indent="0">
              <a:buNone/>
            </a:pPr>
            <a:r>
              <a:rPr lang="en-US" sz="3600" kern="1200" dirty="0">
                <a:solidFill>
                  <a:schemeClr val="accent2">
                    <a:lumMod val="50000"/>
                  </a:schemeClr>
                </a:solidFill>
              </a:rPr>
              <a:t>Prepared for Chick-fil-A, Inc</a:t>
            </a:r>
          </a:p>
          <a:p>
            <a:pPr marL="0" indent="0">
              <a:buNone/>
            </a:pPr>
            <a:r>
              <a:rPr lang="en-US" sz="3600" kern="1200" dirty="0">
                <a:solidFill>
                  <a:schemeClr val="accent2">
                    <a:lumMod val="50000"/>
                  </a:schemeClr>
                </a:solidFill>
              </a:rPr>
              <a:t>       February 21, 2025</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EC46ADB-55E5-43DA-8E91-C49412A33045}"/>
              </a:ext>
            </a:extLst>
          </p:cNvPr>
          <p:cNvSpPr>
            <a:spLocks noGrp="1"/>
          </p:cNvSpPr>
          <p:nvPr>
            <p:ph type="title"/>
          </p:nvPr>
        </p:nvSpPr>
        <p:spPr/>
        <p:txBody>
          <a:bodyPr>
            <a:normAutofit fontScale="90000"/>
          </a:bodyPr>
          <a:lstStyle/>
          <a:p>
            <a:r>
              <a:rPr lang="en-US" dirty="0"/>
              <a:t>FIFA World Cup 2026 Overview</a:t>
            </a:r>
            <a:br>
              <a:rPr lang="en-US" dirty="0"/>
            </a:br>
            <a:endParaRPr lang="en-US" dirty="0"/>
          </a:p>
        </p:txBody>
      </p:sp>
      <p:sp>
        <p:nvSpPr>
          <p:cNvPr id="2" name="Text Placeholder 1">
            <a:extLst>
              <a:ext uri="{FF2B5EF4-FFF2-40B4-BE49-F238E27FC236}">
                <a16:creationId xmlns:a16="http://schemas.microsoft.com/office/drawing/2014/main" id="{C11A7FF5-E7DB-4462-BC64-12126BDC0DFB}"/>
              </a:ext>
            </a:extLst>
          </p:cNvPr>
          <p:cNvSpPr>
            <a:spLocks noGrp="1"/>
          </p:cNvSpPr>
          <p:nvPr>
            <p:ph type="body" sz="quarter" idx="11"/>
          </p:nvPr>
        </p:nvSpPr>
        <p:spPr>
          <a:xfrm>
            <a:off x="6453554" y="1578220"/>
            <a:ext cx="5348654" cy="4486732"/>
          </a:xfrm>
        </p:spPr>
        <p:txBody>
          <a:bodyPr>
            <a:normAutofit lnSpcReduction="10000"/>
          </a:bodyPr>
          <a:lstStyle/>
          <a:p>
            <a:r>
              <a:rPr lang="en-US" dirty="0"/>
              <a:t>When &amp; Where:</a:t>
            </a:r>
          </a:p>
          <a:p>
            <a:r>
              <a:rPr lang="en-US" dirty="0"/>
              <a:t> Scheduled from June 11 to July 19, 2026, spanning 39 days across 16 host cities: Canada (Toronto, Vancouver), United States (Atlanta, Boston, Dallas, Houston, Kansas City, Los Angeles, Miami, New York New Jersey, Philadelphia, San Francisco Bay Area, Seattle), and Mexico (Guadalajara, Mexico City, Monterrey) (FIFA, n.d.).</a:t>
            </a:r>
          </a:p>
          <a:p>
            <a:endParaRPr lang="en-US" dirty="0"/>
          </a:p>
        </p:txBody>
      </p:sp>
      <p:sp>
        <p:nvSpPr>
          <p:cNvPr id="8" name="Date Placeholder 7">
            <a:extLst>
              <a:ext uri="{FF2B5EF4-FFF2-40B4-BE49-F238E27FC236}">
                <a16:creationId xmlns:a16="http://schemas.microsoft.com/office/drawing/2014/main" id="{B10C7A9E-B1D7-4285-8DD5-D28AFDC7B4F8}"/>
              </a:ext>
            </a:extLst>
          </p:cNvPr>
          <p:cNvSpPr>
            <a:spLocks noGrp="1"/>
          </p:cNvSpPr>
          <p:nvPr>
            <p:ph type="dt" sz="half" idx="2"/>
          </p:nvPr>
        </p:nvSpPr>
        <p:spPr/>
        <p:txBody>
          <a:bodyPr/>
          <a:lstStyle/>
          <a:p>
            <a:fld id="{5AF05980-54E0-4F3D-BAF3-4CE06FA77025}" type="datetime1">
              <a:rPr lang="en-US" smtClean="0"/>
              <a:pPr/>
              <a:t>2/25/25</a:t>
            </a:fld>
            <a:endParaRPr lang="en-US" dirty="0"/>
          </a:p>
        </p:txBody>
      </p:sp>
      <p:sp>
        <p:nvSpPr>
          <p:cNvPr id="9" name="Slide Number Placeholder 8">
            <a:extLst>
              <a:ext uri="{FF2B5EF4-FFF2-40B4-BE49-F238E27FC236}">
                <a16:creationId xmlns:a16="http://schemas.microsoft.com/office/drawing/2014/main" id="{AA7B234E-FE17-4087-92FD-3802CA26E967}"/>
              </a:ext>
            </a:extLst>
          </p:cNvPr>
          <p:cNvSpPr>
            <a:spLocks noGrp="1"/>
          </p:cNvSpPr>
          <p:nvPr>
            <p:ph type="sldNum" sz="quarter" idx="4"/>
          </p:nvPr>
        </p:nvSpPr>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2865516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A6B7DE5-BFCC-4EEF-9609-8AA1C7CAD3B0}"/>
              </a:ext>
            </a:extLst>
          </p:cNvPr>
          <p:cNvSpPr>
            <a:spLocks noGrp="1"/>
          </p:cNvSpPr>
          <p:nvPr>
            <p:ph type="title"/>
          </p:nvPr>
        </p:nvSpPr>
        <p:spPr>
          <a:xfrm>
            <a:off x="995581" y="2198143"/>
            <a:ext cx="3935647" cy="1340615"/>
          </a:xfrm>
        </p:spPr>
        <p:txBody>
          <a:bodyPr/>
          <a:lstStyle/>
          <a:p>
            <a:r>
              <a:rPr lang="en-US" dirty="0"/>
              <a:t>FIFA World Cup 2026 Overview</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3"/>
          </p:nvPr>
        </p:nvSpPr>
        <p:spPr>
          <a:xfrm>
            <a:off x="5191215" y="740585"/>
            <a:ext cx="6725012" cy="6342742"/>
          </a:xfrm>
        </p:spPr>
        <p:txBody>
          <a:bodyPr>
            <a:normAutofit/>
          </a:bodyPr>
          <a:lstStyle/>
          <a:p>
            <a:pPr marL="285750" indent="-285750">
              <a:buFont typeface="Arial" panose="020B0604020202020204" pitchFamily="34" charset="0"/>
              <a:buChar char="•"/>
            </a:pPr>
            <a:r>
              <a:rPr lang="en-US" b="1" dirty="0"/>
              <a:t>Scale: </a:t>
            </a:r>
            <a:r>
              <a:rPr lang="en-US" dirty="0"/>
              <a:t>Features an expanded format with 48 teams, up from 32, competing in 104 matches, with the U.S. hosting 78 matches (including all knockout rounds from quarterfinals), while Canada and Mexico host 13 each (FIFA, n.d.).</a:t>
            </a:r>
          </a:p>
          <a:p>
            <a:pPr marL="285750" indent="-285750">
              <a:buFont typeface="Arial" panose="020B0604020202020204" pitchFamily="34" charset="0"/>
              <a:buChar char="•"/>
            </a:pPr>
            <a:r>
              <a:rPr lang="en-US" b="1" dirty="0"/>
              <a:t>Audience</a:t>
            </a:r>
            <a:r>
              <a:rPr lang="en-US" dirty="0"/>
              <a:t>: Targets over 3 million attendees, and over 5 billion viewers worldwide, predominantly male (80%) aged 18–55, with a strong North American focus due to the host region, appealing to families, youth, and casual fans, consistent with past tournament demographics (FIFA, n.d.).</a:t>
            </a:r>
          </a:p>
          <a:p>
            <a:pPr marL="285750" indent="-285750">
              <a:buFont typeface="Arial" panose="020B0604020202020204" pitchFamily="34" charset="0"/>
              <a:buChar char="•"/>
            </a:pPr>
            <a:r>
              <a:rPr lang="en-US" b="1" dirty="0"/>
              <a:t>Unique Value: </a:t>
            </a:r>
            <a:r>
              <a:rPr lang="en-US" dirty="0"/>
              <a:t>Marks the first tri-nation hosted World Cup, returning to North America since 1994, and builds on Qatar 2022’s sustainability legacy and carbon neutrality efforts (FIFA, 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34" name="Date Placeholder 33">
            <a:extLst>
              <a:ext uri="{FF2B5EF4-FFF2-40B4-BE49-F238E27FC236}">
                <a16:creationId xmlns:a16="http://schemas.microsoft.com/office/drawing/2014/main" id="{D30A968E-AB03-4BB5-BF8E-EB31DFD33B17}"/>
              </a:ext>
            </a:extLst>
          </p:cNvPr>
          <p:cNvSpPr>
            <a:spLocks noGrp="1"/>
          </p:cNvSpPr>
          <p:nvPr>
            <p:ph type="dt" sz="half" idx="2"/>
          </p:nvPr>
        </p:nvSpPr>
        <p:spPr/>
        <p:txBody>
          <a:bodyPr/>
          <a:lstStyle/>
          <a:p>
            <a:fld id="{9FEF76E7-2EBE-4103-B764-AD23619BE076}" type="datetime1">
              <a:rPr lang="en-US" smtClean="0"/>
              <a:pPr/>
              <a:t>2/25/25</a:t>
            </a:fld>
            <a:endParaRPr lang="en-US" dirty="0"/>
          </a:p>
        </p:txBody>
      </p:sp>
      <p:sp>
        <p:nvSpPr>
          <p:cNvPr id="35" name="Slide Number Placeholder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237129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055465-EA9F-436E-A0C3-64912E06BF2C}"/>
              </a:ext>
            </a:extLst>
          </p:cNvPr>
          <p:cNvSpPr>
            <a:spLocks noGrp="1"/>
          </p:cNvSpPr>
          <p:nvPr>
            <p:ph type="title"/>
          </p:nvPr>
        </p:nvSpPr>
        <p:spPr>
          <a:xfrm>
            <a:off x="3909390" y="502675"/>
            <a:ext cx="4427647" cy="655320"/>
          </a:xfrm>
        </p:spPr>
        <p:txBody>
          <a:bodyPr>
            <a:normAutofit fontScale="90000"/>
          </a:bodyPr>
          <a:lstStyle/>
          <a:p>
            <a:pPr algn="l"/>
            <a:r>
              <a:rPr lang="en-US" b="0" i="0" u="none" strike="noStrike" dirty="0">
                <a:effectLst/>
              </a:rPr>
              <a:t>Current Partners</a:t>
            </a:r>
          </a:p>
        </p:txBody>
      </p:sp>
      <p:pic>
        <p:nvPicPr>
          <p:cNvPr id="24" name="Picture 23" descr="A logo of a company&#10;&#10;AI-generated content may be incorrect.">
            <a:extLst>
              <a:ext uri="{FF2B5EF4-FFF2-40B4-BE49-F238E27FC236}">
                <a16:creationId xmlns:a16="http://schemas.microsoft.com/office/drawing/2014/main" id="{407D53BB-1E63-6A5B-95E8-87AC4A2F95E2}"/>
              </a:ext>
            </a:extLst>
          </p:cNvPr>
          <p:cNvPicPr>
            <a:picLocks noChangeAspect="1"/>
          </p:cNvPicPr>
          <p:nvPr/>
        </p:nvPicPr>
        <p:blipFill>
          <a:blip r:embed="rId3"/>
          <a:stretch>
            <a:fillRect/>
          </a:stretch>
        </p:blipFill>
        <p:spPr>
          <a:xfrm>
            <a:off x="5329365" y="4166188"/>
            <a:ext cx="1533269" cy="862464"/>
          </a:xfrm>
          <a:prstGeom prst="rect">
            <a:avLst/>
          </a:prstGeom>
        </p:spPr>
      </p:pic>
      <p:graphicFrame>
        <p:nvGraphicFramePr>
          <p:cNvPr id="26" name="TextBox 6">
            <a:extLst>
              <a:ext uri="{FF2B5EF4-FFF2-40B4-BE49-F238E27FC236}">
                <a16:creationId xmlns:a16="http://schemas.microsoft.com/office/drawing/2014/main" id="{11F5DA54-690F-57C4-FA67-6C5AF7E99258}"/>
              </a:ext>
            </a:extLst>
          </p:cNvPr>
          <p:cNvGraphicFramePr/>
          <p:nvPr>
            <p:extLst>
              <p:ext uri="{D42A27DB-BD31-4B8C-83A1-F6EECF244321}">
                <p14:modId xmlns:p14="http://schemas.microsoft.com/office/powerpoint/2010/main" val="421766889"/>
              </p:ext>
            </p:extLst>
          </p:nvPr>
        </p:nvGraphicFramePr>
        <p:xfrm>
          <a:off x="2171700" y="1418272"/>
          <a:ext cx="7848600" cy="517064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12012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3D6AA4-36F9-1F28-55AE-4928665CA704}"/>
              </a:ext>
            </a:extLst>
          </p:cNvPr>
          <p:cNvSpPr>
            <a:spLocks noGrp="1"/>
          </p:cNvSpPr>
          <p:nvPr>
            <p:ph type="title"/>
          </p:nvPr>
        </p:nvSpPr>
        <p:spPr>
          <a:xfrm>
            <a:off x="4154176" y="359101"/>
            <a:ext cx="3883648" cy="429986"/>
          </a:xfrm>
        </p:spPr>
        <p:txBody>
          <a:bodyPr>
            <a:normAutofit fontScale="90000"/>
          </a:bodyPr>
          <a:lstStyle/>
          <a:p>
            <a:r>
              <a:rPr lang="en-US" b="0" i="0" u="none" strike="noStrike" dirty="0">
                <a:effectLst/>
              </a:rPr>
              <a:t>Event Purpose</a:t>
            </a:r>
            <a:endParaRPr lang="en-US" dirty="0"/>
          </a:p>
        </p:txBody>
      </p:sp>
      <p:sp>
        <p:nvSpPr>
          <p:cNvPr id="4" name="TextBox 3">
            <a:extLst>
              <a:ext uri="{FF2B5EF4-FFF2-40B4-BE49-F238E27FC236}">
                <a16:creationId xmlns:a16="http://schemas.microsoft.com/office/drawing/2014/main" id="{BA0D7098-1688-1FC8-4047-AE2277DCC616}"/>
              </a:ext>
            </a:extLst>
          </p:cNvPr>
          <p:cNvSpPr txBox="1"/>
          <p:nvPr/>
        </p:nvSpPr>
        <p:spPr>
          <a:xfrm>
            <a:off x="293914" y="990600"/>
            <a:ext cx="11821886" cy="5078313"/>
          </a:xfrm>
          <a:prstGeom prst="rect">
            <a:avLst/>
          </a:prstGeom>
          <a:noFill/>
        </p:spPr>
        <p:txBody>
          <a:bodyPr wrap="square" rtlCol="0">
            <a:spAutoFit/>
          </a:bodyPr>
          <a:lstStyle/>
          <a:p>
            <a:pPr algn="l"/>
            <a:r>
              <a:rPr lang="en-US" b="1" i="0" u="none" strike="noStrike" dirty="0">
                <a:solidFill>
                  <a:schemeClr val="accent2">
                    <a:lumMod val="50000"/>
                  </a:schemeClr>
                </a:solidFill>
                <a:effectLst/>
              </a:rPr>
              <a:t>Global Unification</a:t>
            </a:r>
            <a:r>
              <a:rPr lang="en-US" b="0" i="0" u="none" strike="noStrike" dirty="0">
                <a:solidFill>
                  <a:schemeClr val="accent2">
                    <a:lumMod val="50000"/>
                  </a:schemeClr>
                </a:solidFill>
                <a:effectLst/>
              </a:rPr>
              <a:t>: Aims to unite a diverse global audience (for over 5 billion viewers) through football (soccer), fostering cross-cultural exchange by bringing together 48 nations in a shared celebration of sport, transcending linguistic, geographic, and socioeconomic barriers (FIFA, n.d.).</a:t>
            </a:r>
          </a:p>
          <a:p>
            <a:pPr algn="l"/>
            <a:br>
              <a:rPr lang="en-US" b="0" i="0" u="none" strike="noStrike" dirty="0">
                <a:solidFill>
                  <a:schemeClr val="accent2">
                    <a:lumMod val="50000"/>
                  </a:schemeClr>
                </a:solidFill>
                <a:effectLst/>
              </a:rPr>
            </a:br>
            <a:r>
              <a:rPr lang="en-US" b="1" i="0" u="none" strike="noStrike" dirty="0">
                <a:solidFill>
                  <a:schemeClr val="accent2">
                    <a:lumMod val="50000"/>
                  </a:schemeClr>
                </a:solidFill>
                <a:effectLst/>
              </a:rPr>
              <a:t>Societal Benefits</a:t>
            </a:r>
            <a:r>
              <a:rPr lang="en-US" b="0" i="0" u="none" strike="noStrike" dirty="0">
                <a:solidFill>
                  <a:schemeClr val="accent2">
                    <a:lumMod val="50000"/>
                  </a:schemeClr>
                </a:solidFill>
                <a:effectLst/>
              </a:rPr>
              <a:t>: Seeks to leverage football’s influence to address societal challenges. Also, including promoting social inclusion (e.g., anti-discrimination initiatives targeting racism and gender inequality), environmental sustainability (e.g., carbon neutrality goals, Minimizing plastic usage), and community well-being through health and education programs (e.g., youth football clinics) (FIFA, n.d).</a:t>
            </a:r>
          </a:p>
          <a:p>
            <a:pPr algn="l"/>
            <a:br>
              <a:rPr lang="en-US" b="0" i="0" u="none" strike="noStrike" dirty="0">
                <a:solidFill>
                  <a:schemeClr val="accent2">
                    <a:lumMod val="50000"/>
                  </a:schemeClr>
                </a:solidFill>
                <a:effectLst/>
              </a:rPr>
            </a:br>
            <a:r>
              <a:rPr lang="en-US" b="1" i="0" u="none" strike="noStrike" dirty="0">
                <a:solidFill>
                  <a:schemeClr val="accent2">
                    <a:lumMod val="50000"/>
                  </a:schemeClr>
                </a:solidFill>
                <a:effectLst/>
              </a:rPr>
              <a:t>National Pride &amp; Legacy</a:t>
            </a:r>
            <a:r>
              <a:rPr lang="en-US" b="0" i="0" u="none" strike="noStrike" dirty="0">
                <a:solidFill>
                  <a:schemeClr val="accent2">
                    <a:lumMod val="50000"/>
                  </a:schemeClr>
                </a:solidFill>
                <a:effectLst/>
              </a:rPr>
              <a:t>: Enhances national pride for host countries </a:t>
            </a:r>
            <a:r>
              <a:rPr lang="en-US" b="1" i="0" u="sng" strike="noStrike" dirty="0">
                <a:solidFill>
                  <a:schemeClr val="accent2">
                    <a:lumMod val="50000"/>
                  </a:schemeClr>
                </a:solidFill>
                <a:effectLst/>
              </a:rPr>
              <a:t>Canada</a:t>
            </a:r>
            <a:r>
              <a:rPr lang="en-US" b="0" i="0" u="none" strike="noStrike" dirty="0">
                <a:solidFill>
                  <a:schemeClr val="accent2">
                    <a:lumMod val="50000"/>
                  </a:schemeClr>
                </a:solidFill>
                <a:effectLst/>
              </a:rPr>
              <a:t> (first men’s World Cup, boosting sport development), </a:t>
            </a:r>
            <a:r>
              <a:rPr lang="en-US" b="1" i="0" u="sng" strike="noStrike" dirty="0">
                <a:solidFill>
                  <a:schemeClr val="accent2">
                    <a:lumMod val="50000"/>
                  </a:schemeClr>
                </a:solidFill>
                <a:effectLst/>
              </a:rPr>
              <a:t>Mexico</a:t>
            </a:r>
            <a:r>
              <a:rPr lang="en-US" b="0" i="0" u="none" strike="noStrike" dirty="0">
                <a:solidFill>
                  <a:schemeClr val="accent2">
                    <a:lumMod val="50000"/>
                  </a:schemeClr>
                </a:solidFill>
                <a:effectLst/>
              </a:rPr>
              <a:t> (third hosting, a record, reinforcing football heritage), and the </a:t>
            </a:r>
            <a:r>
              <a:rPr lang="en-US" b="1" i="0" u="sng" strike="noStrike" dirty="0">
                <a:solidFill>
                  <a:schemeClr val="accent2">
                    <a:lumMod val="50000"/>
                  </a:schemeClr>
                </a:solidFill>
                <a:effectLst/>
              </a:rPr>
              <a:t>U.S.</a:t>
            </a:r>
            <a:r>
              <a:rPr lang="en-US" b="0" i="0" u="none" strike="noStrike" dirty="0">
                <a:solidFill>
                  <a:schemeClr val="accent2">
                    <a:lumMod val="50000"/>
                  </a:schemeClr>
                </a:solidFill>
                <a:effectLst/>
              </a:rPr>
              <a:t> (aligning with its 250th anniversary, showcasing unity), while leaving a lasting legacy of infrastructure and cultural enrichment (FIFA, n.d.).</a:t>
            </a:r>
          </a:p>
          <a:p>
            <a:pPr algn="l"/>
            <a:br>
              <a:rPr lang="en-US" b="0" i="0" u="none" strike="noStrike" dirty="0">
                <a:solidFill>
                  <a:schemeClr val="accent2">
                    <a:lumMod val="50000"/>
                  </a:schemeClr>
                </a:solidFill>
                <a:effectLst/>
              </a:rPr>
            </a:br>
            <a:r>
              <a:rPr lang="en-US" b="1" i="0" u="none" strike="noStrike" dirty="0">
                <a:solidFill>
                  <a:schemeClr val="accent2">
                    <a:lumMod val="50000"/>
                  </a:schemeClr>
                </a:solidFill>
                <a:effectLst/>
              </a:rPr>
              <a:t>Economic &amp; Cultural Impact</a:t>
            </a:r>
            <a:r>
              <a:rPr lang="en-US" b="0" i="0" u="none" strike="noStrike" dirty="0">
                <a:solidFill>
                  <a:schemeClr val="accent2">
                    <a:lumMod val="50000"/>
                  </a:schemeClr>
                </a:solidFill>
                <a:effectLst/>
              </a:rPr>
              <a:t>: Drives economic growth in host regions via tourism (e.g., 519,153 spectators at Rio 2014 venues) and job creation (e.g., Qatar 2022’s worker reforms), while promoting cultural diversity through North American host cities and advancing sustainable event benchmarks set by Qatar 2022’s ISO 20121 certification (FIFA, n.d; Doherty &amp; Murray, 2007).</a:t>
            </a:r>
          </a:p>
        </p:txBody>
      </p:sp>
    </p:spTree>
    <p:extLst>
      <p:ext uri="{BB962C8B-B14F-4D97-AF65-F5344CB8AC3E}">
        <p14:creationId xmlns:p14="http://schemas.microsoft.com/office/powerpoint/2010/main" val="2597361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p:txBody>
          <a:bodyPr/>
          <a:lstStyle/>
          <a:p>
            <a:r>
              <a:rPr lang="en-US" dirty="0"/>
              <a:t>Potential New Sponsors</a:t>
            </a:r>
          </a:p>
        </p:txBody>
      </p:sp>
      <p:sp>
        <p:nvSpPr>
          <p:cNvPr id="14" name="Date Placeholder 13">
            <a:extLst>
              <a:ext uri="{FF2B5EF4-FFF2-40B4-BE49-F238E27FC236}">
                <a16:creationId xmlns:a16="http://schemas.microsoft.com/office/drawing/2014/main" id="{EF6002B2-219C-4BAA-A95C-36538E39AEAC}"/>
              </a:ext>
            </a:extLst>
          </p:cNvPr>
          <p:cNvSpPr>
            <a:spLocks noGrp="1"/>
          </p:cNvSpPr>
          <p:nvPr>
            <p:ph type="dt" sz="half" idx="2"/>
          </p:nvPr>
        </p:nvSpPr>
        <p:spPr/>
        <p:txBody>
          <a:bodyPr/>
          <a:lstStyle/>
          <a:p>
            <a:fld id="{27AB0102-8ACA-4214-A839-9665520705F6}" type="datetime1">
              <a:rPr lang="en-US" smtClean="0"/>
              <a:pPr/>
              <a:t>2/25/25</a:t>
            </a:fld>
            <a:endParaRPr lang="en-US" dirty="0"/>
          </a:p>
        </p:txBody>
      </p:sp>
      <p:sp>
        <p:nvSpPr>
          <p:cNvPr id="15" name="Slide Number Placeholder 14">
            <a:extLst>
              <a:ext uri="{FF2B5EF4-FFF2-40B4-BE49-F238E27FC236}">
                <a16:creationId xmlns:a16="http://schemas.microsoft.com/office/drawing/2014/main" id="{5515DA6F-E486-4C5A-B98C-B1ACDA64D455}"/>
              </a:ext>
            </a:extLst>
          </p:cNvPr>
          <p:cNvSpPr>
            <a:spLocks noGrp="1"/>
          </p:cNvSpPr>
          <p:nvPr>
            <p:ph type="sldNum" sz="quarter" idx="4"/>
          </p:nvPr>
        </p:nvSpPr>
        <p:spPr/>
        <p:txBody>
          <a:bodyPr/>
          <a:lstStyle/>
          <a:p>
            <a:fld id="{294A09A9-5501-47C1-A89A-A340965A2BE2}" type="slidenum">
              <a:rPr lang="en-US" smtClean="0"/>
              <a:pPr/>
              <a:t>6</a:t>
            </a:fld>
            <a:endParaRPr lang="en-US" dirty="0"/>
          </a:p>
        </p:txBody>
      </p:sp>
      <p:sp>
        <p:nvSpPr>
          <p:cNvPr id="5" name="Content Placeholder 4">
            <a:extLst>
              <a:ext uri="{FF2B5EF4-FFF2-40B4-BE49-F238E27FC236}">
                <a16:creationId xmlns:a16="http://schemas.microsoft.com/office/drawing/2014/main" id="{18C5D5F5-6864-8C04-26B6-93396892ADEC}"/>
              </a:ext>
            </a:extLst>
          </p:cNvPr>
          <p:cNvSpPr>
            <a:spLocks noGrp="1"/>
          </p:cNvSpPr>
          <p:nvPr>
            <p:ph sz="quarter" idx="11"/>
          </p:nvPr>
        </p:nvSpPr>
        <p:spPr/>
        <p:txBody>
          <a:bodyPr>
            <a:normAutofit fontScale="70000" lnSpcReduction="20000"/>
          </a:bodyPr>
          <a:lstStyle/>
          <a:p>
            <a:r>
              <a:rPr lang="en-US" b="1" i="0" u="none" strike="noStrike" dirty="0">
                <a:solidFill>
                  <a:schemeClr val="accent2">
                    <a:lumMod val="50000"/>
                  </a:schemeClr>
                </a:solidFill>
                <a:effectLst/>
              </a:rPr>
              <a:t>Socios</a:t>
            </a:r>
            <a:r>
              <a:rPr lang="en-US" b="0" i="0" u="none" strike="noStrike" dirty="0">
                <a:solidFill>
                  <a:schemeClr val="accent2">
                    <a:lumMod val="50000"/>
                  </a:schemeClr>
                </a:solidFill>
                <a:effectLst/>
              </a:rPr>
              <a:t>: A blockchain-based platform enabling fan engagement through digital tokens, aligning with FIFA’s digital innovation push on inclusion by connecting fans globally with their teams during the 48-team tournament (FIFA, n.d.).</a:t>
            </a:r>
          </a:p>
          <a:p>
            <a:r>
              <a:rPr lang="en-US" b="1" i="0" u="none" strike="noStrike" dirty="0">
                <a:solidFill>
                  <a:schemeClr val="accent2">
                    <a:lumMod val="50000"/>
                  </a:schemeClr>
                </a:solidFill>
                <a:effectLst/>
              </a:rPr>
              <a:t>M&amp;M (Mars, Incorporated)</a:t>
            </a:r>
            <a:r>
              <a:rPr lang="en-US" b="0" i="0" u="none" strike="noStrike" dirty="0">
                <a:solidFill>
                  <a:schemeClr val="accent2">
                    <a:lumMod val="50000"/>
                  </a:schemeClr>
                </a:solidFill>
                <a:effectLst/>
              </a:rPr>
              <a:t>: A leading global confectionery brand offering family-friendly snacks like M&amp;M’s, ideal for the World Cup’s broad audience, including youth and casual viewers, with potential to enhance fan experiences through in-stadium sales and branded activations.</a:t>
            </a:r>
          </a:p>
          <a:p>
            <a:r>
              <a:rPr lang="en-US" b="1" i="0" u="none" strike="noStrike" dirty="0">
                <a:solidFill>
                  <a:schemeClr val="accent2">
                    <a:lumMod val="50000"/>
                  </a:schemeClr>
                </a:solidFill>
                <a:effectLst/>
              </a:rPr>
              <a:t>Chick-fil-A</a:t>
            </a:r>
            <a:r>
              <a:rPr lang="en-US" b="0" i="0" u="none" strike="noStrike" dirty="0">
                <a:solidFill>
                  <a:schemeClr val="accent2">
                    <a:lumMod val="50000"/>
                  </a:schemeClr>
                </a:solidFill>
                <a:effectLst/>
              </a:rPr>
              <a:t>: A U.S.-based quick-service restaurant chain with over 3,000 locations, specializing in chicken-based meals, planning expansion into Europe (e.g., UK by 2025) and Asia by 2030, targeting families and food enthusiasts with a community-driven brand (Chick-fil-A, n.d.).</a:t>
            </a:r>
          </a:p>
          <a:p>
            <a:endParaRPr lang="en-US" dirty="0"/>
          </a:p>
        </p:txBody>
      </p:sp>
    </p:spTree>
    <p:extLst>
      <p:ext uri="{BB962C8B-B14F-4D97-AF65-F5344CB8AC3E}">
        <p14:creationId xmlns:p14="http://schemas.microsoft.com/office/powerpoint/2010/main" val="421291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BF59AC89-2307-4F1C-962F-D954A6C80A28}"/>
              </a:ext>
            </a:extLst>
          </p:cNvPr>
          <p:cNvSpPr>
            <a:spLocks noGrp="1"/>
          </p:cNvSpPr>
          <p:nvPr>
            <p:ph type="title"/>
          </p:nvPr>
        </p:nvSpPr>
        <p:spPr>
          <a:xfrm>
            <a:off x="562708" y="720969"/>
            <a:ext cx="11254154" cy="5766013"/>
          </a:xfrm>
        </p:spPr>
        <p:txBody>
          <a:bodyPr>
            <a:normAutofit/>
          </a:bodyPr>
          <a:lstStyle/>
          <a:p>
            <a:pPr algn="l"/>
            <a:r>
              <a:rPr lang="en-US" b="1" i="0" u="none" strike="noStrike" dirty="0">
                <a:effectLst/>
              </a:rPr>
              <a:t>Unique Market Position</a:t>
            </a:r>
            <a:r>
              <a:rPr lang="en-US" b="0" i="0" u="none" strike="noStrike" dirty="0">
                <a:effectLst/>
              </a:rPr>
              <a:t>: Avoids overlap with existing sponsors like Lay’s (snacks), Verizon (telecom), or Home Depot (home improvement), Chick-fil-A will be the only fast-food brand.</a:t>
            </a:r>
            <a:br>
              <a:rPr lang="en-US" b="0" i="0" u="none" strike="noStrike" dirty="0">
                <a:effectLst/>
              </a:rPr>
            </a:br>
            <a:r>
              <a:rPr lang="en-US" b="1" i="0" u="none" strike="noStrike" dirty="0">
                <a:effectLst/>
              </a:rPr>
              <a:t>Expansion Synergy</a:t>
            </a:r>
            <a:r>
              <a:rPr lang="en-US" b="0" i="0" u="none" strike="noStrike" dirty="0">
                <a:effectLst/>
              </a:rPr>
              <a:t>: Chick-fil-A’s planned 2025–2030 entry into Europe and Asia aligns with the World Cup’s 5 billion+ global audience, providing a platform to build brand awareness in new markets ahead of its international rollout (Chick-fil-A, n.d.; FIFA, n.d.).</a:t>
            </a:r>
            <a:br>
              <a:rPr lang="en-US" b="0" i="0" u="none" strike="noStrike" dirty="0">
                <a:effectLst/>
              </a:rPr>
            </a:br>
            <a:r>
              <a:rPr lang="en-US" b="1" i="0" u="none" strike="noStrike" dirty="0">
                <a:effectLst/>
              </a:rPr>
              <a:t>Community Fit</a:t>
            </a:r>
            <a:r>
              <a:rPr lang="en-US" b="0" i="0" u="none" strike="noStrike" dirty="0">
                <a:effectLst/>
              </a:rPr>
              <a:t>: Its focus on family values, hospitality, and community service (e.g., local charity support) mirrors FIFA’s Goals that aim to social inclusion and well-being, enhancing its appeal as a socially responsible partner (FIFA, n.d.; Chick-fil-A, n.d.).</a:t>
            </a:r>
            <a:br>
              <a:rPr lang="en-US" b="0" i="0" u="none" strike="noStrike" dirty="0">
                <a:effectLst/>
              </a:rPr>
            </a:br>
            <a:r>
              <a:rPr lang="en-US" b="1" i="0" u="none" strike="noStrike" dirty="0">
                <a:effectLst/>
              </a:rPr>
              <a:t>Strategic Timing</a:t>
            </a:r>
            <a:r>
              <a:rPr lang="en-US" b="0" i="0" u="none" strike="noStrike" dirty="0">
                <a:effectLst/>
              </a:rPr>
              <a:t>: Sponsorship in 2026 strengthens its North American dominance (90% U.S.-based) while laying groundwork for international growth, leveraging the tri-nation host focus and North American audience concentration (FIFA, n.d.).</a:t>
            </a:r>
          </a:p>
        </p:txBody>
      </p:sp>
      <p:sp>
        <p:nvSpPr>
          <p:cNvPr id="24" name="TextBox 23">
            <a:extLst>
              <a:ext uri="{FF2B5EF4-FFF2-40B4-BE49-F238E27FC236}">
                <a16:creationId xmlns:a16="http://schemas.microsoft.com/office/drawing/2014/main" id="{9D25A50B-BB2E-4F06-82AE-76A92D7CC3B8}"/>
              </a:ext>
            </a:extLst>
          </p:cNvPr>
          <p:cNvSpPr txBox="1"/>
          <p:nvPr/>
        </p:nvSpPr>
        <p:spPr>
          <a:xfrm>
            <a:off x="3281590" y="0"/>
            <a:ext cx="5628820" cy="887486"/>
          </a:xfrm>
          <a:prstGeom prst="rect">
            <a:avLst/>
          </a:prstGeom>
        </p:spPr>
        <p:txBody>
          <a:bodyPr vert="horz" lIns="91440" tIns="45720" rIns="91440" bIns="45720" rtlCol="0" anchor="t">
            <a:normAutofit fontScale="97500"/>
          </a:bodyPr>
          <a:lstStyle>
            <a:lvl1pPr lvl="0">
              <a:lnSpc>
                <a:spcPct val="150000"/>
              </a:lnSpc>
              <a:spcBef>
                <a:spcPts val="0"/>
              </a:spcBef>
              <a:buNone/>
              <a:defRPr lang="en-US" sz="2000">
                <a:solidFill>
                  <a:schemeClr val="accent2">
                    <a:lumMod val="50000"/>
                  </a:schemeClr>
                </a:solidFill>
              </a:defRPr>
            </a:lvl1pPr>
          </a:lstStyle>
          <a:p>
            <a:pPr algn="ctr"/>
            <a:r>
              <a:rPr lang="en-US" sz="3100" b="0" i="0" u="none" strike="noStrike" dirty="0">
                <a:effectLst/>
              </a:rPr>
              <a:t>Why this is a good deal?</a:t>
            </a:r>
          </a:p>
          <a:p>
            <a:pPr algn="r"/>
            <a:endParaRPr lang="en-US" dirty="0"/>
          </a:p>
        </p:txBody>
      </p:sp>
      <p:sp>
        <p:nvSpPr>
          <p:cNvPr id="15" name="Date Placeholder 14">
            <a:extLst>
              <a:ext uri="{FF2B5EF4-FFF2-40B4-BE49-F238E27FC236}">
                <a16:creationId xmlns:a16="http://schemas.microsoft.com/office/drawing/2014/main" id="{740F1142-57E3-40C3-9A2A-3B1C8975905A}"/>
              </a:ext>
            </a:extLst>
          </p:cNvPr>
          <p:cNvSpPr>
            <a:spLocks noGrp="1"/>
          </p:cNvSpPr>
          <p:nvPr>
            <p:ph type="dt" sz="half" idx="2"/>
          </p:nvPr>
        </p:nvSpPr>
        <p:spPr/>
        <p:txBody>
          <a:bodyPr/>
          <a:lstStyle/>
          <a:p>
            <a:fld id="{B93BF043-A0E2-48C9-80FB-0A3EF98DDCEF}" type="datetime1">
              <a:rPr lang="en-US" smtClean="0"/>
              <a:pPr/>
              <a:t>2/25/25</a:t>
            </a:fld>
            <a:endParaRPr lang="en-US" dirty="0"/>
          </a:p>
        </p:txBody>
      </p:sp>
      <p:sp>
        <p:nvSpPr>
          <p:cNvPr id="16" name="Slide Number Placeholder 15">
            <a:extLst>
              <a:ext uri="{FF2B5EF4-FFF2-40B4-BE49-F238E27FC236}">
                <a16:creationId xmlns:a16="http://schemas.microsoft.com/office/drawing/2014/main" id="{ED61D9CF-8ACA-4237-8E03-D79B6B89F0F2}"/>
              </a:ext>
            </a:extLst>
          </p:cNvPr>
          <p:cNvSpPr>
            <a:spLocks noGrp="1"/>
          </p:cNvSpPr>
          <p:nvPr>
            <p:ph type="sldNum" sz="quarter" idx="4"/>
          </p:nvPr>
        </p:nvSpPr>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348399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9E24BCE-48CF-4EA0-8CEE-DABDE8C63D2E}"/>
              </a:ext>
            </a:extLst>
          </p:cNvPr>
          <p:cNvSpPr>
            <a:spLocks noGrp="1"/>
          </p:cNvSpPr>
          <p:nvPr>
            <p:ph type="title"/>
          </p:nvPr>
        </p:nvSpPr>
        <p:spPr>
          <a:xfrm>
            <a:off x="3123046" y="96158"/>
            <a:ext cx="5945908" cy="1200146"/>
          </a:xfrm>
        </p:spPr>
        <p:txBody>
          <a:bodyPr/>
          <a:lstStyle/>
          <a:p>
            <a:r>
              <a:rPr lang="en-US" dirty="0"/>
              <a:t>Sponsorship Tiers</a:t>
            </a:r>
          </a:p>
        </p:txBody>
      </p:sp>
      <p:sp>
        <p:nvSpPr>
          <p:cNvPr id="26" name="Text Placeholder 25">
            <a:extLst>
              <a:ext uri="{FF2B5EF4-FFF2-40B4-BE49-F238E27FC236}">
                <a16:creationId xmlns:a16="http://schemas.microsoft.com/office/drawing/2014/main" id="{CF7E2B50-41CF-47DF-94E2-23B31B1BEC27}"/>
              </a:ext>
            </a:extLst>
          </p:cNvPr>
          <p:cNvSpPr>
            <a:spLocks noGrp="1"/>
          </p:cNvSpPr>
          <p:nvPr>
            <p:ph type="body" sz="quarter" idx="19"/>
          </p:nvPr>
        </p:nvSpPr>
        <p:spPr>
          <a:xfrm>
            <a:off x="1504950" y="1121228"/>
            <a:ext cx="8282353" cy="5312229"/>
          </a:xfrm>
        </p:spPr>
        <p:txBody>
          <a:bodyPr/>
          <a:lstStyle/>
          <a:p>
            <a:pPr marL="285750" indent="-285750" algn="l">
              <a:buFont typeface="Arial" panose="020B0604020202020204" pitchFamily="34" charset="0"/>
              <a:buChar char="•"/>
            </a:pPr>
            <a:r>
              <a:rPr lang="en-US" b="1" i="0" u="none" strike="noStrike" dirty="0">
                <a:effectLst/>
              </a:rPr>
              <a:t>Investment</a:t>
            </a:r>
            <a:r>
              <a:rPr lang="en-US" b="0" i="0" u="none" strike="noStrike" dirty="0">
                <a:effectLst/>
              </a:rPr>
              <a:t>: $50M+ over the 39-day tournament duration, covering June 11–July 19, 2026.</a:t>
            </a:r>
            <a:br>
              <a:rPr lang="en-US" b="0" i="0" u="none" strike="noStrike" dirty="0">
                <a:effectLst/>
              </a:rPr>
            </a:br>
            <a:r>
              <a:rPr lang="en-US" b="1" i="0" u="none" strike="noStrike" dirty="0">
                <a:effectLst/>
              </a:rPr>
              <a:t>Benefits</a:t>
            </a:r>
            <a:r>
              <a:rPr lang="en-US" b="0" i="0" u="none" strike="noStrike" dirty="0">
                <a:effectLst/>
              </a:rPr>
              <a:t>: Exclusive naming rights for the FIFA World Cup 2026, branding it as “Chick-fil-A FIFA World Cup 2026” across all official broadcasts, promotional materials, tickets, and merchandise.</a:t>
            </a:r>
          </a:p>
          <a:p>
            <a:pPr algn="l"/>
            <a:endParaRPr lang="en-US" b="0" i="0" u="none" strike="noStrike" dirty="0">
              <a:effectLst/>
            </a:endParaRPr>
          </a:p>
          <a:p>
            <a:pPr marL="285750" indent="-285750" algn="l">
              <a:buFont typeface="Arial" panose="020B0604020202020204" pitchFamily="34" charset="0"/>
              <a:buChar char="•"/>
            </a:pPr>
            <a:r>
              <a:rPr lang="en-US" b="0" i="0" u="none" strike="noStrike" dirty="0">
                <a:effectLst/>
              </a:rPr>
              <a:t>Branding on all stadium concessions for 104 matches across 16 cities, featuring digital menu boards with Chick-fil-A items like the Original Chicken Sandwich, Spicy Nuggets, and Waffle Fries.</a:t>
            </a:r>
          </a:p>
          <a:p>
            <a:pPr marL="285750" indent="-285750" algn="l">
              <a:buFont typeface="Arial" panose="020B0604020202020204" pitchFamily="34" charset="0"/>
              <a:buChar char="•"/>
            </a:pPr>
            <a:endParaRPr lang="en-US" b="0" i="0" u="none" strike="noStrike" dirty="0">
              <a:effectLst/>
            </a:endParaRPr>
          </a:p>
          <a:p>
            <a:pPr marL="285750" indent="-285750" algn="l">
              <a:buFont typeface="Arial" panose="020B0604020202020204" pitchFamily="34" charset="0"/>
              <a:buChar char="•"/>
            </a:pPr>
            <a:r>
              <a:rPr lang="en-US" b="0" i="0" u="none" strike="noStrike" dirty="0">
                <a:effectLst/>
              </a:rPr>
              <a:t>Prime signage placement at all venues, including high-traffic locations like MetLife Stadium (84,953 capacity), Estadio Azteca, and SoFi Stadium.</a:t>
            </a:r>
          </a:p>
          <a:p>
            <a:pPr algn="l"/>
            <a:endParaRPr lang="en-US" b="0" i="0" u="none" strike="noStrike" dirty="0">
              <a:effectLst/>
            </a:endParaRPr>
          </a:p>
          <a:p>
            <a:pPr marL="285750" indent="-285750" algn="l">
              <a:buFont typeface="Arial" panose="020B0604020202020204" pitchFamily="34" charset="0"/>
              <a:buChar char="•"/>
            </a:pPr>
            <a:r>
              <a:rPr lang="en-US" b="0" i="0" u="none" strike="noStrike" dirty="0">
                <a:effectLst/>
              </a:rPr>
              <a:t>Co-branded digital campaigns on FIFA’s website, social media platforms (e.g., Twitter, Instagram), and event app, reaching over 5 billion viewers globally (FIFA, n.d.).</a:t>
            </a:r>
          </a:p>
          <a:p>
            <a:endParaRPr lang="en-US" dirty="0"/>
          </a:p>
        </p:txBody>
      </p:sp>
      <p:sp>
        <p:nvSpPr>
          <p:cNvPr id="36" name="Date Placeholder 35">
            <a:extLst>
              <a:ext uri="{FF2B5EF4-FFF2-40B4-BE49-F238E27FC236}">
                <a16:creationId xmlns:a16="http://schemas.microsoft.com/office/drawing/2014/main" id="{F6CE792E-745D-4408-9AB1-740D556972A1}"/>
              </a:ext>
            </a:extLst>
          </p:cNvPr>
          <p:cNvSpPr>
            <a:spLocks noGrp="1"/>
          </p:cNvSpPr>
          <p:nvPr>
            <p:ph type="dt" sz="half" idx="2"/>
          </p:nvPr>
        </p:nvSpPr>
        <p:spPr/>
        <p:txBody>
          <a:bodyPr/>
          <a:lstStyle/>
          <a:p>
            <a:fld id="{E65208FE-0220-403B-8209-06D9990EA4C9}" type="datetime1">
              <a:rPr lang="en-US" smtClean="0"/>
              <a:pPr/>
              <a:t>2/25/25</a:t>
            </a:fld>
            <a:endParaRPr lang="en-US" dirty="0"/>
          </a:p>
        </p:txBody>
      </p:sp>
      <p:sp>
        <p:nvSpPr>
          <p:cNvPr id="37" name="Slide Number Placeholder 36">
            <a:extLst>
              <a:ext uri="{FF2B5EF4-FFF2-40B4-BE49-F238E27FC236}">
                <a16:creationId xmlns:a16="http://schemas.microsoft.com/office/drawing/2014/main" id="{BF214639-68C6-49E7-90D4-F4DAFEFBFE02}"/>
              </a:ext>
            </a:extLst>
          </p:cNvPr>
          <p:cNvSpPr>
            <a:spLocks noGrp="1"/>
          </p:cNvSpPr>
          <p:nvPr>
            <p:ph type="sldNum" sz="quarter" idx="4"/>
          </p:nvPr>
        </p:nvSpPr>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4083546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F5BEB4A9-58A3-720D-A24D-45125F756834}"/>
              </a:ext>
            </a:extLst>
          </p:cNvPr>
          <p:cNvSpPr>
            <a:spLocks noGrp="1"/>
          </p:cNvSpPr>
          <p:nvPr>
            <p:ph type="dt" sz="half" idx="2"/>
          </p:nvPr>
        </p:nvSpPr>
        <p:spPr/>
        <p:txBody>
          <a:bodyPr/>
          <a:lstStyle/>
          <a:p>
            <a:fld id="{AAD2DF6D-B715-4785-8DEA-9165C638CF44}" type="datetime1">
              <a:rPr lang="en-US" smtClean="0"/>
              <a:t>2/25/25</a:t>
            </a:fld>
            <a:endParaRPr lang="en-US" dirty="0"/>
          </a:p>
        </p:txBody>
      </p:sp>
      <p:sp>
        <p:nvSpPr>
          <p:cNvPr id="9" name="Slide Number Placeholder 8">
            <a:extLst>
              <a:ext uri="{FF2B5EF4-FFF2-40B4-BE49-F238E27FC236}">
                <a16:creationId xmlns:a16="http://schemas.microsoft.com/office/drawing/2014/main" id="{63AA1EF6-5A8F-C2DC-FF36-C8D770DACB9D}"/>
              </a:ext>
            </a:extLst>
          </p:cNvPr>
          <p:cNvSpPr>
            <a:spLocks noGrp="1"/>
          </p:cNvSpPr>
          <p:nvPr>
            <p:ph type="sldNum" sz="quarter" idx="4"/>
          </p:nvPr>
        </p:nvSpPr>
        <p:spPr/>
        <p:txBody>
          <a:bodyPr/>
          <a:lstStyle/>
          <a:p>
            <a:fld id="{294A09A9-5501-47C1-A89A-A340965A2BE2}" type="slidenum">
              <a:rPr lang="en-US" smtClean="0"/>
              <a:pPr/>
              <a:t>9</a:t>
            </a:fld>
            <a:endParaRPr lang="en-US" dirty="0"/>
          </a:p>
        </p:txBody>
      </p:sp>
      <p:sp>
        <p:nvSpPr>
          <p:cNvPr id="10" name="Title 9">
            <a:extLst>
              <a:ext uri="{FF2B5EF4-FFF2-40B4-BE49-F238E27FC236}">
                <a16:creationId xmlns:a16="http://schemas.microsoft.com/office/drawing/2014/main" id="{4218729F-1A31-B8B4-AF4F-E47A1F8E6817}"/>
              </a:ext>
            </a:extLst>
          </p:cNvPr>
          <p:cNvSpPr>
            <a:spLocks noGrp="1"/>
          </p:cNvSpPr>
          <p:nvPr>
            <p:ph type="title"/>
          </p:nvPr>
        </p:nvSpPr>
        <p:spPr>
          <a:xfrm>
            <a:off x="4653559" y="933726"/>
            <a:ext cx="2884882" cy="1005839"/>
          </a:xfrm>
        </p:spPr>
        <p:txBody>
          <a:bodyPr/>
          <a:lstStyle/>
          <a:p>
            <a:r>
              <a:rPr lang="en-US" b="0" i="0" u="none" strike="noStrike" dirty="0">
                <a:effectLst/>
              </a:rPr>
              <a:t>Activities</a:t>
            </a:r>
          </a:p>
        </p:txBody>
      </p:sp>
      <p:sp>
        <p:nvSpPr>
          <p:cNvPr id="11" name="Text Placeholder 10">
            <a:extLst>
              <a:ext uri="{FF2B5EF4-FFF2-40B4-BE49-F238E27FC236}">
                <a16:creationId xmlns:a16="http://schemas.microsoft.com/office/drawing/2014/main" id="{C3B64F79-E8B2-E36D-FE69-53FE595BF5CD}"/>
              </a:ext>
            </a:extLst>
          </p:cNvPr>
          <p:cNvSpPr>
            <a:spLocks noGrp="1"/>
          </p:cNvSpPr>
          <p:nvPr>
            <p:ph type="body" sz="quarter" idx="16"/>
          </p:nvPr>
        </p:nvSpPr>
        <p:spPr>
          <a:xfrm>
            <a:off x="1036638" y="2717800"/>
            <a:ext cx="10340608" cy="3769182"/>
          </a:xfrm>
        </p:spPr>
        <p:txBody>
          <a:bodyPr/>
          <a:lstStyle/>
          <a:p>
            <a:pPr marL="285750" indent="-285750" algn="l">
              <a:buFont typeface="Arial" panose="020B0604020202020204" pitchFamily="34" charset="0"/>
              <a:buChar char="•"/>
            </a:pPr>
            <a:r>
              <a:rPr lang="en-US" b="0" i="0" u="none" strike="noStrike" dirty="0">
                <a:effectLst/>
              </a:rPr>
              <a:t>Sets up “Chick-fil-A Family Zones” at fan areas in cities like Dallas and Miami. Gives free nuggets and fun games like football toss for families.</a:t>
            </a:r>
          </a:p>
          <a:p>
            <a:pPr algn="l"/>
            <a:endParaRPr lang="en-US" dirty="0"/>
          </a:p>
          <a:p>
            <a:pPr marL="285750" indent="-285750" algn="l">
              <a:buFont typeface="Arial" panose="020B0604020202020204" pitchFamily="34" charset="0"/>
              <a:buChar char="•"/>
            </a:pPr>
            <a:r>
              <a:rPr lang="en-US" b="0" i="0" u="none" strike="noStrike" dirty="0">
                <a:effectLst/>
              </a:rPr>
              <a:t>Offers VR penalty kicks against famous goalkeepers like Mike Maignan, Courtois, and Gianluigi Donnarumma at fan zones, letting fans try shots with headsets.</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b="0" i="0" u="none" strike="noStrike" dirty="0">
                <a:effectLst/>
              </a:rPr>
              <a:t>Uses green trays and cups at food stands, like Qatar 2022’s 77% recycling, with signs about Chick-fil-A’s eco-care (FIFA, n.d.).</a:t>
            </a:r>
          </a:p>
          <a:p>
            <a:endParaRPr lang="en-US" dirty="0"/>
          </a:p>
        </p:txBody>
      </p:sp>
    </p:spTree>
    <p:extLst>
      <p:ext uri="{BB962C8B-B14F-4D97-AF65-F5344CB8AC3E}">
        <p14:creationId xmlns:p14="http://schemas.microsoft.com/office/powerpoint/2010/main" val="179691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4C1777-B62D-468E-BE34-64A07CED098F}"/>
              </a:ext>
            </a:extLst>
          </p:cNvPr>
          <p:cNvSpPr>
            <a:spLocks noGrp="1"/>
          </p:cNvSpPr>
          <p:nvPr>
            <p:ph type="title"/>
          </p:nvPr>
        </p:nvSpPr>
        <p:spPr>
          <a:xfrm>
            <a:off x="3060162" y="393816"/>
            <a:ext cx="6071675" cy="655320"/>
          </a:xfrm>
        </p:spPr>
        <p:txBody>
          <a:bodyPr>
            <a:normAutofit fontScale="90000"/>
          </a:bodyPr>
          <a:lstStyle/>
          <a:p>
            <a:r>
              <a:rPr lang="en-US" dirty="0"/>
              <a:t>Sponsorship Packages </a:t>
            </a:r>
          </a:p>
        </p:txBody>
      </p:sp>
      <p:sp>
        <p:nvSpPr>
          <p:cNvPr id="5" name="TextBox 4">
            <a:extLst>
              <a:ext uri="{FF2B5EF4-FFF2-40B4-BE49-F238E27FC236}">
                <a16:creationId xmlns:a16="http://schemas.microsoft.com/office/drawing/2014/main" id="{AF2C1F7F-FA78-8054-4C3A-9625E7F271A2}"/>
              </a:ext>
            </a:extLst>
          </p:cNvPr>
          <p:cNvSpPr txBox="1"/>
          <p:nvPr/>
        </p:nvSpPr>
        <p:spPr>
          <a:xfrm>
            <a:off x="409889" y="1251857"/>
            <a:ext cx="11372221" cy="5078313"/>
          </a:xfrm>
          <a:prstGeom prst="rect">
            <a:avLst/>
          </a:prstGeom>
          <a:noFill/>
        </p:spPr>
        <p:txBody>
          <a:bodyPr wrap="square" rtlCol="0">
            <a:spAutoFit/>
          </a:bodyPr>
          <a:lstStyle/>
          <a:p>
            <a:pPr algn="l"/>
            <a:r>
              <a:rPr lang="en-US" b="1" i="0" u="none" strike="noStrike" dirty="0">
                <a:solidFill>
                  <a:schemeClr val="accent2">
                    <a:lumMod val="50000"/>
                  </a:schemeClr>
                </a:solidFill>
                <a:effectLst/>
              </a:rPr>
              <a:t>Premium Sponsor: </a:t>
            </a:r>
          </a:p>
          <a:p>
            <a:pPr algn="l"/>
            <a:r>
              <a:rPr lang="en-US" b="1" i="0" u="none" strike="noStrike" dirty="0">
                <a:solidFill>
                  <a:schemeClr val="accent2">
                    <a:lumMod val="50000"/>
                  </a:schemeClr>
                </a:solidFill>
                <a:effectLst/>
              </a:rPr>
              <a:t>"Chick-fil-A Elite Partner" ($25M–$50M) </a:t>
            </a:r>
            <a:r>
              <a:rPr lang="en-US" b="0" i="0" u="none" strike="noStrike" dirty="0">
                <a:solidFill>
                  <a:schemeClr val="accent2">
                    <a:lumMod val="50000"/>
                  </a:schemeClr>
                </a:solidFill>
                <a:effectLst/>
              </a:rPr>
              <a:t>Pays to be the only fast-food sponsor, keeping out others like McDonald’s for all 104 games.</a:t>
            </a:r>
          </a:p>
          <a:p>
            <a:pPr algn="l">
              <a:buFont typeface="Arial" panose="020B0604020202020204" pitchFamily="34" charset="0"/>
              <a:buChar char="•"/>
            </a:pPr>
            <a:r>
              <a:rPr lang="en-US" dirty="0">
                <a:solidFill>
                  <a:schemeClr val="accent2">
                    <a:lumMod val="50000"/>
                  </a:schemeClr>
                </a:solidFill>
              </a:rPr>
              <a:t> </a:t>
            </a:r>
            <a:r>
              <a:rPr lang="en-US" b="0" i="0" u="none" strike="noStrike" dirty="0">
                <a:solidFill>
                  <a:schemeClr val="accent2">
                    <a:lumMod val="50000"/>
                  </a:schemeClr>
                </a:solidFill>
                <a:effectLst/>
              </a:rPr>
              <a:t>Gets signs at big games (quarterfinals, semifinals, final at MetLife) and feeds 10 of 48 team camps with Chick-fil-A meals (FIFA, n.d.).</a:t>
            </a:r>
          </a:p>
          <a:p>
            <a:pPr algn="l">
              <a:buFont typeface="Arial" panose="020B0604020202020204" pitchFamily="34" charset="0"/>
              <a:buChar char="•"/>
            </a:pPr>
            <a:r>
              <a:rPr lang="en-US" dirty="0">
                <a:solidFill>
                  <a:schemeClr val="accent2">
                    <a:lumMod val="50000"/>
                  </a:schemeClr>
                </a:solidFill>
              </a:rPr>
              <a:t> </a:t>
            </a:r>
            <a:r>
              <a:rPr lang="en-US" b="0" i="0" u="none" strike="noStrike" dirty="0">
                <a:solidFill>
                  <a:schemeClr val="accent2">
                    <a:lumMod val="50000"/>
                  </a:schemeClr>
                </a:solidFill>
                <a:effectLst/>
              </a:rPr>
              <a:t>Shows ads on FIFA’s app and website, plus VIP tickets for semifinals (2 games, 50 guests each) and final (75 guests).</a:t>
            </a:r>
          </a:p>
          <a:p>
            <a:pPr algn="l">
              <a:buFont typeface="Arial" panose="020B0604020202020204" pitchFamily="34" charset="0"/>
              <a:buChar char="•"/>
            </a:pPr>
            <a:r>
              <a:rPr lang="en-US" dirty="0">
                <a:solidFill>
                  <a:schemeClr val="accent2">
                    <a:lumMod val="50000"/>
                  </a:schemeClr>
                </a:solidFill>
              </a:rPr>
              <a:t> </a:t>
            </a:r>
            <a:r>
              <a:rPr lang="en-US" b="0" i="0" u="none" strike="noStrike" dirty="0">
                <a:solidFill>
                  <a:schemeClr val="accent2">
                    <a:lumMod val="50000"/>
                  </a:schemeClr>
                </a:solidFill>
                <a:effectLst/>
              </a:rPr>
              <a:t>Activities: Runs “Chick-fil-A Taste of the Cup” stands at places like SoFi and AT&amp;T Stadiums, with mini sandwiches and gifts like bags. Adds VR penalty kicks against goalkeepers like Mike Maignan, Courtois, and Gianluigi Donnarumma for fans.</a:t>
            </a:r>
          </a:p>
          <a:p>
            <a:pPr algn="l"/>
            <a:endParaRPr lang="en-US" b="0" i="0" u="none" strike="noStrike" dirty="0">
              <a:solidFill>
                <a:schemeClr val="accent2">
                  <a:lumMod val="50000"/>
                </a:schemeClr>
              </a:solidFill>
              <a:effectLst/>
            </a:endParaRPr>
          </a:p>
          <a:p>
            <a:pPr algn="l"/>
            <a:r>
              <a:rPr lang="en-US" b="1" i="0" u="none" strike="noStrike" dirty="0">
                <a:solidFill>
                  <a:schemeClr val="accent2">
                    <a:lumMod val="50000"/>
                  </a:schemeClr>
                </a:solidFill>
                <a:effectLst/>
              </a:rPr>
              <a:t>Standard Sponsor:</a:t>
            </a:r>
          </a:p>
          <a:p>
            <a:pPr algn="l"/>
            <a:r>
              <a:rPr lang="en-US" b="1" i="0" u="none" strike="noStrike" dirty="0">
                <a:solidFill>
                  <a:schemeClr val="accent2">
                    <a:lumMod val="50000"/>
                  </a:schemeClr>
                </a:solidFill>
                <a:effectLst/>
              </a:rPr>
              <a:t>"Chick-fil-A Official Supporter" ($10M–$25M) </a:t>
            </a:r>
            <a:r>
              <a:rPr lang="en-US" b="0" i="0" u="none" strike="noStrike" dirty="0">
                <a:solidFill>
                  <a:schemeClr val="accent2">
                    <a:lumMod val="50000"/>
                  </a:schemeClr>
                </a:solidFill>
                <a:effectLst/>
              </a:rPr>
              <a:t>Puts logos on posters and tickets in cities like Toronto and Vancouver, plus emails to over 200,000 fans with deals.</a:t>
            </a:r>
          </a:p>
          <a:p>
            <a:pPr algn="l">
              <a:buFont typeface="Arial" panose="020B0604020202020204" pitchFamily="34" charset="0"/>
              <a:buChar char="•"/>
            </a:pPr>
            <a:r>
              <a:rPr lang="en-US" dirty="0">
                <a:solidFill>
                  <a:schemeClr val="accent2">
                    <a:lumMod val="50000"/>
                  </a:schemeClr>
                </a:solidFill>
              </a:rPr>
              <a:t> </a:t>
            </a:r>
            <a:r>
              <a:rPr lang="en-US" b="0" i="0" u="none" strike="noStrike" dirty="0">
                <a:solidFill>
                  <a:schemeClr val="accent2">
                    <a:lumMod val="50000"/>
                  </a:schemeClr>
                </a:solidFill>
                <a:effectLst/>
              </a:rPr>
              <a:t>Adds Chick-fil-A news to FIFA’s newsletter for millions, with tickets for 5 early games (10 tickets each, 50 total).</a:t>
            </a:r>
          </a:p>
          <a:p>
            <a:pPr algn="l">
              <a:buFont typeface="Arial" panose="020B0604020202020204" pitchFamily="34" charset="0"/>
              <a:buChar char="•"/>
            </a:pPr>
            <a:r>
              <a:rPr lang="en-US" dirty="0">
                <a:solidFill>
                  <a:schemeClr val="accent2">
                    <a:lumMod val="50000"/>
                  </a:schemeClr>
                </a:solidFill>
              </a:rPr>
              <a:t> </a:t>
            </a:r>
            <a:r>
              <a:rPr lang="en-US" b="0" i="0" u="none" strike="noStrike" dirty="0">
                <a:solidFill>
                  <a:schemeClr val="accent2">
                    <a:lumMod val="50000"/>
                  </a:schemeClr>
                </a:solidFill>
                <a:effectLst/>
              </a:rPr>
              <a:t>Activities: Holds “Chick-fil-A Kick-Off” events in Kansas City and Philadelphia, giving free fries and 500 meals to local food banks after.</a:t>
            </a:r>
          </a:p>
        </p:txBody>
      </p:sp>
    </p:spTree>
    <p:extLst>
      <p:ext uri="{BB962C8B-B14F-4D97-AF65-F5344CB8AC3E}">
        <p14:creationId xmlns:p14="http://schemas.microsoft.com/office/powerpoint/2010/main" val="675137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71EB2F-1381-848F-677B-70C0BFBAB57A}"/>
              </a:ext>
            </a:extLst>
          </p:cNvPr>
          <p:cNvSpPr>
            <a:spLocks noGrp="1"/>
          </p:cNvSpPr>
          <p:nvPr>
            <p:ph type="title"/>
          </p:nvPr>
        </p:nvSpPr>
        <p:spPr>
          <a:xfrm>
            <a:off x="2758599" y="1212757"/>
            <a:ext cx="6674802" cy="655320"/>
          </a:xfrm>
        </p:spPr>
        <p:txBody>
          <a:bodyPr>
            <a:normAutofit fontScale="90000"/>
          </a:bodyPr>
          <a:lstStyle/>
          <a:p>
            <a:r>
              <a:rPr lang="en-US" dirty="0"/>
              <a:t>Value for Chick-fil-A</a:t>
            </a:r>
          </a:p>
        </p:txBody>
      </p:sp>
      <p:sp>
        <p:nvSpPr>
          <p:cNvPr id="4" name="TextBox 3">
            <a:extLst>
              <a:ext uri="{FF2B5EF4-FFF2-40B4-BE49-F238E27FC236}">
                <a16:creationId xmlns:a16="http://schemas.microsoft.com/office/drawing/2014/main" id="{07D0A3FB-D9DB-FDFD-AF9F-ED6EC05E33DD}"/>
              </a:ext>
            </a:extLst>
          </p:cNvPr>
          <p:cNvSpPr txBox="1"/>
          <p:nvPr/>
        </p:nvSpPr>
        <p:spPr>
          <a:xfrm>
            <a:off x="2158093" y="2511307"/>
            <a:ext cx="7875814" cy="2585323"/>
          </a:xfrm>
          <a:prstGeom prst="rect">
            <a:avLst/>
          </a:prstGeom>
          <a:noFill/>
        </p:spPr>
        <p:txBody>
          <a:bodyPr wrap="square" rtlCol="0">
            <a:spAutoFit/>
          </a:bodyPr>
          <a:lstStyle/>
          <a:p>
            <a:pPr algn="l"/>
            <a:r>
              <a:rPr lang="en-US" b="1" i="0" u="none" strike="noStrike" dirty="0">
                <a:solidFill>
                  <a:schemeClr val="accent2">
                    <a:lumMod val="50000"/>
                  </a:schemeClr>
                </a:solidFill>
                <a:effectLst/>
              </a:rPr>
              <a:t>Big Exposure</a:t>
            </a:r>
            <a:r>
              <a:rPr lang="en-US" b="0" i="0" u="none" strike="noStrike" dirty="0">
                <a:solidFill>
                  <a:schemeClr val="accent2">
                    <a:lumMod val="50000"/>
                  </a:schemeClr>
                </a:solidFill>
                <a:effectLst/>
              </a:rPr>
              <a:t>: Over 3 million attendees and over 5 billion people will see Chick-fil-A on TV, signs, and online. Helps its 3,000+ U.S. stores and new Europe/Asia plans for 2025–2030 (FIFA, n.d.; Chick-fil-A, n.d.). Kia’s 2010 World Cup showed this works well (Noordin et al., 2011).</a:t>
            </a:r>
          </a:p>
          <a:p>
            <a:pPr algn="l"/>
            <a:endParaRPr lang="en-US" dirty="0">
              <a:solidFill>
                <a:schemeClr val="accent2">
                  <a:lumMod val="50000"/>
                </a:schemeClr>
              </a:solidFill>
            </a:endParaRPr>
          </a:p>
          <a:p>
            <a:r>
              <a:rPr lang="en-US" b="1" i="0" u="none" strike="noStrike" dirty="0">
                <a:solidFill>
                  <a:schemeClr val="accent2">
                    <a:lumMod val="50000"/>
                  </a:schemeClr>
                </a:solidFill>
                <a:effectLst/>
              </a:rPr>
              <a:t>Brand Fit</a:t>
            </a:r>
            <a:r>
              <a:rPr lang="en-US" b="0" i="0" u="none" strike="noStrike" dirty="0">
                <a:solidFill>
                  <a:schemeClr val="accent2">
                    <a:lumMod val="50000"/>
                  </a:schemeClr>
                </a:solidFill>
                <a:effectLst/>
              </a:rPr>
              <a:t>: Chick-fil-A’s good food and kindness fit the World Cup’s community and green goals</a:t>
            </a:r>
          </a:p>
          <a:p>
            <a:pPr algn="l"/>
            <a:endParaRPr lang="en-US" b="0" i="0" u="none" strike="noStrike" dirty="0">
              <a:solidFill>
                <a:srgbClr val="000000"/>
              </a:solidFill>
              <a:effectLst/>
            </a:endParaRPr>
          </a:p>
        </p:txBody>
      </p:sp>
    </p:spTree>
    <p:extLst>
      <p:ext uri="{BB962C8B-B14F-4D97-AF65-F5344CB8AC3E}">
        <p14:creationId xmlns:p14="http://schemas.microsoft.com/office/powerpoint/2010/main" val="1330143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19BF1C0-EE32-4EEE-9539-CE8473AA2F38}"/>
              </a:ext>
            </a:extLst>
          </p:cNvPr>
          <p:cNvSpPr>
            <a:spLocks noGrp="1"/>
          </p:cNvSpPr>
          <p:nvPr>
            <p:ph type="title"/>
          </p:nvPr>
        </p:nvSpPr>
        <p:spPr/>
        <p:txBody>
          <a:bodyPr>
            <a:noAutofit/>
          </a:bodyPr>
          <a:lstStyle/>
          <a:p>
            <a:r>
              <a:rPr lang="en-US" sz="4400" dirty="0"/>
              <a:t>ROI Assessment - Digital Tools</a:t>
            </a:r>
          </a:p>
        </p:txBody>
      </p:sp>
      <p:sp>
        <p:nvSpPr>
          <p:cNvPr id="3" name="Content Placeholder 2">
            <a:extLst>
              <a:ext uri="{FF2B5EF4-FFF2-40B4-BE49-F238E27FC236}">
                <a16:creationId xmlns:a16="http://schemas.microsoft.com/office/drawing/2014/main" id="{B34BD264-B274-4D4C-8E2B-C6F7606B254F}"/>
              </a:ext>
            </a:extLst>
          </p:cNvPr>
          <p:cNvSpPr>
            <a:spLocks noGrp="1"/>
          </p:cNvSpPr>
          <p:nvPr>
            <p:ph idx="4294967295"/>
          </p:nvPr>
        </p:nvSpPr>
        <p:spPr>
          <a:xfrm>
            <a:off x="6096000" y="1306512"/>
            <a:ext cx="5641521" cy="4473575"/>
          </a:xfrm>
        </p:spPr>
        <p:txBody>
          <a:bodyPr>
            <a:normAutofit fontScale="55000" lnSpcReduction="20000"/>
          </a:bodyPr>
          <a:lstStyle/>
          <a:p>
            <a:pPr marL="0" indent="0">
              <a:buNone/>
            </a:pPr>
            <a:r>
              <a:rPr lang="en-US" dirty="0">
                <a:solidFill>
                  <a:schemeClr val="accent2">
                    <a:lumMod val="50000"/>
                  </a:schemeClr>
                </a:solidFill>
                <a:cs typeface="Biome Light" panose="020B0303030204020804" pitchFamily="34" charset="0"/>
              </a:rPr>
              <a:t>Sprout Social: Tracks Chick-fil-A’s #ChickFilAWorldCup posts on Twitter, Instagram, and Facebook for 5 billion+ viewers (FIFA, n.d.). Shows growth, likes, and who’s watching to tweak ads fast.</a:t>
            </a:r>
          </a:p>
          <a:p>
            <a:pPr marL="0" indent="0">
              <a:buNone/>
            </a:pPr>
            <a:br>
              <a:rPr lang="en-US" dirty="0">
                <a:solidFill>
                  <a:schemeClr val="accent2">
                    <a:lumMod val="50000"/>
                  </a:schemeClr>
                </a:solidFill>
                <a:cs typeface="Biome Light" panose="020B0303030204020804" pitchFamily="34" charset="0"/>
              </a:rPr>
            </a:br>
            <a:r>
              <a:rPr lang="en-US" dirty="0">
                <a:solidFill>
                  <a:schemeClr val="accent2">
                    <a:lumMod val="50000"/>
                  </a:schemeClr>
                </a:solidFill>
                <a:cs typeface="Biome Light" panose="020B0303030204020804" pitchFamily="34" charset="0"/>
              </a:rPr>
              <a:t>Event App with QR Codes: A FIFA World Cup 2026 app with Chick-fil-A QR codes at fan zones and food stands in 16 cities. Tracks scans and deals used during 104 games.</a:t>
            </a:r>
          </a:p>
          <a:p>
            <a:pPr marL="0" indent="0">
              <a:buNone/>
            </a:pPr>
            <a:br>
              <a:rPr lang="en-US" dirty="0">
                <a:solidFill>
                  <a:schemeClr val="accent2">
                    <a:lumMod val="50000"/>
                  </a:schemeClr>
                </a:solidFill>
                <a:cs typeface="Biome Light" panose="020B0303030204020804" pitchFamily="34" charset="0"/>
              </a:rPr>
            </a:br>
            <a:r>
              <a:rPr lang="en-US" dirty="0">
                <a:solidFill>
                  <a:schemeClr val="accent2">
                    <a:lumMod val="50000"/>
                  </a:schemeClr>
                </a:solidFill>
                <a:cs typeface="Biome Light" panose="020B0303030204020804" pitchFamily="34" charset="0"/>
              </a:rPr>
              <a:t>Salesforce CRM: Handles emails to 200,000+ fans, and food sales at games. Links them to real sales and keeps fans for later </a:t>
            </a:r>
          </a:p>
          <a:p>
            <a:endParaRPr lang="en-US" sz="1600" dirty="0">
              <a:solidFill>
                <a:schemeClr val="tx2">
                  <a:lumMod val="50000"/>
                </a:schemeClr>
              </a:solidFill>
              <a:cs typeface="Biome Light" panose="020B0303030204020804" pitchFamily="34" charset="0"/>
            </a:endParaRPr>
          </a:p>
        </p:txBody>
      </p:sp>
      <p:sp>
        <p:nvSpPr>
          <p:cNvPr id="30" name="Date Placeholder 29">
            <a:extLst>
              <a:ext uri="{FF2B5EF4-FFF2-40B4-BE49-F238E27FC236}">
                <a16:creationId xmlns:a16="http://schemas.microsoft.com/office/drawing/2014/main" id="{5C3C5043-9E0B-4C7C-B3D8-6124850B4088}"/>
              </a:ext>
            </a:extLst>
          </p:cNvPr>
          <p:cNvSpPr>
            <a:spLocks noGrp="1"/>
          </p:cNvSpPr>
          <p:nvPr>
            <p:ph type="dt" sz="half" idx="2"/>
          </p:nvPr>
        </p:nvSpPr>
        <p:spPr/>
        <p:txBody>
          <a:bodyPr/>
          <a:lstStyle/>
          <a:p>
            <a:fld id="{F5615077-39AD-4FB2-A061-5884E8516F91}" type="datetime1">
              <a:rPr lang="en-US" smtClean="0"/>
              <a:t>2/25/25</a:t>
            </a:fld>
            <a:endParaRPr lang="en-US" dirty="0"/>
          </a:p>
        </p:txBody>
      </p:sp>
      <p:sp>
        <p:nvSpPr>
          <p:cNvPr id="31" name="Slide Number Placeholder 30">
            <a:extLst>
              <a:ext uri="{FF2B5EF4-FFF2-40B4-BE49-F238E27FC236}">
                <a16:creationId xmlns:a16="http://schemas.microsoft.com/office/drawing/2014/main" id="{AD175D2A-0058-45E0-AAF6-7260876F007C}"/>
              </a:ext>
            </a:extLst>
          </p:cNvPr>
          <p:cNvSpPr>
            <a:spLocks noGrp="1"/>
          </p:cNvSpPr>
          <p:nvPr>
            <p:ph type="sldNum" sz="quarter" idx="4"/>
          </p:nvPr>
        </p:nvSpPr>
        <p:spPr/>
        <p:txBody>
          <a:bodyPr/>
          <a:lstStyle/>
          <a:p>
            <a:fld id="{294A09A9-5501-47C1-A89A-A340965A2BE2}" type="slidenum">
              <a:rPr lang="en-US" smtClean="0"/>
              <a:pPr/>
              <a:t>12</a:t>
            </a:fld>
            <a:endParaRPr lang="en-US" dirty="0"/>
          </a:p>
        </p:txBody>
      </p:sp>
      <p:pic>
        <p:nvPicPr>
          <p:cNvPr id="6" name="Picture Placeholder 5" descr="A red logo with a black background&#10;&#10;AI-generated content may be incorrect.">
            <a:extLst>
              <a:ext uri="{FF2B5EF4-FFF2-40B4-BE49-F238E27FC236}">
                <a16:creationId xmlns:a16="http://schemas.microsoft.com/office/drawing/2014/main" id="{12489442-AB84-4854-CA64-545A4B0DF2E4}"/>
              </a:ext>
            </a:extLst>
          </p:cNvPr>
          <p:cNvPicPr>
            <a:picLocks noGrp="1" noChangeAspect="1"/>
          </p:cNvPicPr>
          <p:nvPr>
            <p:ph type="pic" sz="quarter" idx="10"/>
          </p:nvPr>
        </p:nvPicPr>
        <p:blipFill>
          <a:blip r:embed="rId3"/>
          <a:srcRect t="7767" b="7767"/>
          <a:stretch>
            <a:fillRect/>
          </a:stretch>
        </p:blipFill>
        <p:spPr>
          <a:xfrm>
            <a:off x="1028700" y="3172282"/>
            <a:ext cx="3924300" cy="3314700"/>
          </a:xfrm>
        </p:spPr>
      </p:pic>
    </p:spTree>
    <p:extLst>
      <p:ext uri="{BB962C8B-B14F-4D97-AF65-F5344CB8AC3E}">
        <p14:creationId xmlns:p14="http://schemas.microsoft.com/office/powerpoint/2010/main" val="256311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B90CD1B-578F-CEE8-26FE-E32C02DD3232}"/>
              </a:ext>
            </a:extLst>
          </p:cNvPr>
          <p:cNvSpPr>
            <a:spLocks noGrp="1"/>
          </p:cNvSpPr>
          <p:nvPr>
            <p:ph type="pic" sz="quarter" idx="10"/>
          </p:nvPr>
        </p:nvSpPr>
        <p:spPr>
          <a:xfrm>
            <a:off x="468086" y="2645229"/>
            <a:ext cx="4484914" cy="4212771"/>
          </a:xfrm>
        </p:spPr>
        <p:txBody>
          <a:bodyPr>
            <a:normAutofit fontScale="32500" lnSpcReduction="20000"/>
          </a:bodyPr>
          <a:lstStyle/>
          <a:p>
            <a:pPr marL="0" indent="0">
              <a:buNone/>
            </a:pPr>
            <a:r>
              <a:rPr lang="en-US" sz="4500" b="1" dirty="0">
                <a:solidFill>
                  <a:schemeClr val="accent2">
                    <a:lumMod val="50000"/>
                  </a:schemeClr>
                </a:solidFill>
              </a:rPr>
              <a:t>Plan</a:t>
            </a:r>
            <a:r>
              <a:rPr lang="en-US" sz="4500" dirty="0">
                <a:solidFill>
                  <a:schemeClr val="accent2">
                    <a:lumMod val="50000"/>
                  </a:schemeClr>
                </a:solidFill>
              </a:rPr>
              <a:t>:</a:t>
            </a:r>
          </a:p>
          <a:p>
            <a:r>
              <a:rPr lang="en-US" sz="4500" dirty="0">
                <a:solidFill>
                  <a:schemeClr val="accent2">
                    <a:lumMod val="50000"/>
                  </a:schemeClr>
                </a:solidFill>
              </a:rPr>
              <a:t>Before: Start posts on Sprout Social in May 2026 when players join (May 25–30) and add QR codes to the app (FIFA, n.d.).</a:t>
            </a:r>
          </a:p>
          <a:p>
            <a:r>
              <a:rPr lang="en-US" sz="4500" dirty="0">
                <a:solidFill>
                  <a:schemeClr val="accent2">
                    <a:lumMod val="50000"/>
                  </a:schemeClr>
                </a:solidFill>
              </a:rPr>
              <a:t>During: Watch engagement June 11–July 19 and use Salesforce to track leads and sales.</a:t>
            </a:r>
          </a:p>
          <a:p>
            <a:r>
              <a:rPr lang="en-US" sz="4500" dirty="0">
                <a:solidFill>
                  <a:schemeClr val="accent2">
                    <a:lumMod val="50000"/>
                  </a:schemeClr>
                </a:solidFill>
              </a:rPr>
              <a:t>After: Check views, feelings, and sales in July–August 2026, comparing to past wins (Doherty &amp; Murray, 2007; Noordin et al., 2011).</a:t>
            </a:r>
          </a:p>
          <a:p>
            <a:endParaRPr lang="en-US" dirty="0"/>
          </a:p>
        </p:txBody>
      </p:sp>
      <p:sp>
        <p:nvSpPr>
          <p:cNvPr id="3" name="Content Placeholder 2">
            <a:extLst>
              <a:ext uri="{FF2B5EF4-FFF2-40B4-BE49-F238E27FC236}">
                <a16:creationId xmlns:a16="http://schemas.microsoft.com/office/drawing/2014/main" id="{AC92D42F-CF21-3C67-19CF-B13C91975CA0}"/>
              </a:ext>
            </a:extLst>
          </p:cNvPr>
          <p:cNvSpPr>
            <a:spLocks noGrp="1"/>
          </p:cNvSpPr>
          <p:nvPr>
            <p:ph idx="4294967295"/>
          </p:nvPr>
        </p:nvSpPr>
        <p:spPr>
          <a:xfrm>
            <a:off x="6191250" y="914400"/>
            <a:ext cx="5867400" cy="5540375"/>
          </a:xfrm>
        </p:spPr>
        <p:txBody>
          <a:bodyPr>
            <a:normAutofit fontScale="32500" lnSpcReduction="20000"/>
          </a:bodyPr>
          <a:lstStyle/>
          <a:p>
            <a:r>
              <a:rPr lang="en-US" sz="4500" b="1" dirty="0">
                <a:solidFill>
                  <a:schemeClr val="accent2">
                    <a:lumMod val="50000"/>
                  </a:schemeClr>
                </a:solidFill>
              </a:rPr>
              <a:t>Metrics</a:t>
            </a:r>
            <a:r>
              <a:rPr lang="en-US" sz="4500" dirty="0">
                <a:solidFill>
                  <a:schemeClr val="accent2">
                    <a:lumMod val="50000"/>
                  </a:schemeClr>
                </a:solidFill>
              </a:rPr>
              <a:t>:</a:t>
            </a:r>
            <a:br>
              <a:rPr lang="en-US" sz="4500" dirty="0">
                <a:solidFill>
                  <a:schemeClr val="accent2">
                    <a:lumMod val="50000"/>
                  </a:schemeClr>
                </a:solidFill>
              </a:rPr>
            </a:br>
            <a:r>
              <a:rPr lang="en-US" sz="4500" dirty="0">
                <a:solidFill>
                  <a:schemeClr val="accent2">
                    <a:lumMod val="50000"/>
                  </a:schemeClr>
                </a:solidFill>
              </a:rPr>
              <a:t>Views: Aim for 5 billion+ views of Chick-fil-A on TV, signs, and online (FIFA, n.d.).</a:t>
            </a:r>
          </a:p>
          <a:p>
            <a:br>
              <a:rPr lang="en-US" sz="4500" dirty="0">
                <a:solidFill>
                  <a:schemeClr val="accent2">
                    <a:lumMod val="50000"/>
                  </a:schemeClr>
                </a:solidFill>
              </a:rPr>
            </a:br>
            <a:r>
              <a:rPr lang="en-US" sz="4500" dirty="0">
                <a:solidFill>
                  <a:schemeClr val="accent2">
                    <a:lumMod val="50000"/>
                  </a:schemeClr>
                </a:solidFill>
              </a:rPr>
              <a:t>Reach: Target 2.5 billion people (50% of viewers) via posts and app use.</a:t>
            </a:r>
          </a:p>
          <a:p>
            <a:br>
              <a:rPr lang="en-US" sz="4500" dirty="0">
                <a:solidFill>
                  <a:schemeClr val="accent2">
                    <a:lumMod val="50000"/>
                  </a:schemeClr>
                </a:solidFill>
              </a:rPr>
            </a:br>
            <a:r>
              <a:rPr lang="en-US" sz="4500" dirty="0">
                <a:solidFill>
                  <a:schemeClr val="accent2">
                    <a:lumMod val="50000"/>
                  </a:schemeClr>
                </a:solidFill>
              </a:rPr>
              <a:t>Engagement: Count likes and shares on #ChickfilAWorldCup, aiming high like Kia’s 2010 (Noordin et al., 2011).</a:t>
            </a:r>
          </a:p>
          <a:p>
            <a:br>
              <a:rPr lang="en-US" sz="4500" dirty="0">
                <a:solidFill>
                  <a:schemeClr val="accent2">
                    <a:lumMod val="50000"/>
                  </a:schemeClr>
                </a:solidFill>
              </a:rPr>
            </a:br>
            <a:r>
              <a:rPr lang="en-US" sz="4500" dirty="0">
                <a:solidFill>
                  <a:schemeClr val="accent2">
                    <a:lumMod val="50000"/>
                  </a:schemeClr>
                </a:solidFill>
              </a:rPr>
              <a:t>Feelings: Track 80% good comments with Sprout Social, like Qatar 2022’s green wins (FIFA, n.d.).</a:t>
            </a:r>
          </a:p>
          <a:p>
            <a:br>
              <a:rPr lang="en-US" sz="4500" dirty="0">
                <a:solidFill>
                  <a:schemeClr val="accent2">
                    <a:lumMod val="50000"/>
                  </a:schemeClr>
                </a:solidFill>
              </a:rPr>
            </a:br>
            <a:r>
              <a:rPr lang="en-US" sz="4500" dirty="0">
                <a:solidFill>
                  <a:schemeClr val="accent2">
                    <a:lumMod val="50000"/>
                  </a:schemeClr>
                </a:solidFill>
              </a:rPr>
              <a:t>Sales: Boost food sales at games, tracked by Salesforce, like Synchro Canada’s gains (Doherty &amp; Murray, 2007).</a:t>
            </a:r>
          </a:p>
          <a:p>
            <a:endParaRPr lang="en-US" dirty="0"/>
          </a:p>
        </p:txBody>
      </p:sp>
      <p:sp>
        <p:nvSpPr>
          <p:cNvPr id="4" name="Date Placeholder 3">
            <a:extLst>
              <a:ext uri="{FF2B5EF4-FFF2-40B4-BE49-F238E27FC236}">
                <a16:creationId xmlns:a16="http://schemas.microsoft.com/office/drawing/2014/main" id="{9643215B-E1DE-C32C-1396-1A54E2468839}"/>
              </a:ext>
            </a:extLst>
          </p:cNvPr>
          <p:cNvSpPr>
            <a:spLocks noGrp="1"/>
          </p:cNvSpPr>
          <p:nvPr>
            <p:ph type="dt" sz="half" idx="2"/>
          </p:nvPr>
        </p:nvSpPr>
        <p:spPr/>
        <p:txBody>
          <a:bodyPr/>
          <a:lstStyle/>
          <a:p>
            <a:fld id="{137AE72A-09B6-4D56-855D-4360BD347914}" type="datetime1">
              <a:rPr lang="en-US" smtClean="0"/>
              <a:t>2/25/25</a:t>
            </a:fld>
            <a:endParaRPr lang="en-US" dirty="0"/>
          </a:p>
        </p:txBody>
      </p:sp>
      <p:sp>
        <p:nvSpPr>
          <p:cNvPr id="5" name="Slide Number Placeholder 4">
            <a:extLst>
              <a:ext uri="{FF2B5EF4-FFF2-40B4-BE49-F238E27FC236}">
                <a16:creationId xmlns:a16="http://schemas.microsoft.com/office/drawing/2014/main" id="{B71EB1B8-678A-3A05-0A93-22F1CFE4A3BB}"/>
              </a:ext>
            </a:extLst>
          </p:cNvPr>
          <p:cNvSpPr>
            <a:spLocks noGrp="1"/>
          </p:cNvSpPr>
          <p:nvPr>
            <p:ph type="sldNum" sz="quarter" idx="4"/>
          </p:nvPr>
        </p:nvSpPr>
        <p:spPr/>
        <p:txBody>
          <a:bodyPr/>
          <a:lstStyle/>
          <a:p>
            <a:fld id="{294A09A9-5501-47C1-A89A-A340965A2BE2}" type="slidenum">
              <a:rPr lang="en-US" smtClean="0"/>
              <a:pPr/>
              <a:t>13</a:t>
            </a:fld>
            <a:endParaRPr lang="en-US" dirty="0"/>
          </a:p>
        </p:txBody>
      </p:sp>
      <p:sp>
        <p:nvSpPr>
          <p:cNvPr id="6" name="Title 5">
            <a:extLst>
              <a:ext uri="{FF2B5EF4-FFF2-40B4-BE49-F238E27FC236}">
                <a16:creationId xmlns:a16="http://schemas.microsoft.com/office/drawing/2014/main" id="{231481B8-D580-4668-D598-FC0D602BB05F}"/>
              </a:ext>
            </a:extLst>
          </p:cNvPr>
          <p:cNvSpPr>
            <a:spLocks noGrp="1"/>
          </p:cNvSpPr>
          <p:nvPr>
            <p:ph type="title"/>
          </p:nvPr>
        </p:nvSpPr>
        <p:spPr/>
        <p:txBody>
          <a:bodyPr>
            <a:normAutofit/>
          </a:bodyPr>
          <a:lstStyle/>
          <a:p>
            <a:r>
              <a:rPr lang="en-US" sz="4000" dirty="0"/>
              <a:t>ROI Metrics &amp; Strategy</a:t>
            </a:r>
            <a:br>
              <a:rPr lang="en-US" sz="4000" dirty="0"/>
            </a:br>
            <a:endParaRPr lang="en-US" sz="4000" dirty="0"/>
          </a:p>
        </p:txBody>
      </p:sp>
    </p:spTree>
    <p:extLst>
      <p:ext uri="{BB962C8B-B14F-4D97-AF65-F5344CB8AC3E}">
        <p14:creationId xmlns:p14="http://schemas.microsoft.com/office/powerpoint/2010/main" val="52145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A931-F348-4A41-A5F4-69657F3CA0F6}"/>
              </a:ext>
            </a:extLst>
          </p:cNvPr>
          <p:cNvSpPr>
            <a:spLocks noGrp="1"/>
          </p:cNvSpPr>
          <p:nvPr>
            <p:ph type="title"/>
          </p:nvPr>
        </p:nvSpPr>
        <p:spPr/>
        <p:txBody>
          <a:bodyPr>
            <a:normAutofit/>
          </a:bodyPr>
          <a:lstStyle/>
          <a:p>
            <a:r>
              <a:rPr lang="en-US" sz="4400" dirty="0"/>
              <a:t>Closing Summary</a:t>
            </a:r>
            <a:br>
              <a:rPr lang="en-US" dirty="0"/>
            </a:br>
            <a:endParaRPr lang="en-US" dirty="0"/>
          </a:p>
        </p:txBody>
      </p:sp>
      <p:sp>
        <p:nvSpPr>
          <p:cNvPr id="26" name="Content Placeholder 25">
            <a:extLst>
              <a:ext uri="{FF2B5EF4-FFF2-40B4-BE49-F238E27FC236}">
                <a16:creationId xmlns:a16="http://schemas.microsoft.com/office/drawing/2014/main" id="{34CC2084-FCB9-4F4B-8B47-44B2A81D5235}"/>
              </a:ext>
            </a:extLst>
          </p:cNvPr>
          <p:cNvSpPr>
            <a:spLocks noGrp="1"/>
          </p:cNvSpPr>
          <p:nvPr>
            <p:ph idx="4294967295"/>
          </p:nvPr>
        </p:nvSpPr>
        <p:spPr>
          <a:xfrm>
            <a:off x="4137660" y="506640"/>
            <a:ext cx="7814854" cy="6345467"/>
          </a:xfrm>
        </p:spPr>
        <p:txBody>
          <a:bodyPr>
            <a:normAutofit lnSpcReduction="10000"/>
          </a:bodyPr>
          <a:lstStyle/>
          <a:p>
            <a:pPr>
              <a:lnSpc>
                <a:spcPct val="100000"/>
              </a:lnSpc>
              <a:spcBef>
                <a:spcPts val="0"/>
              </a:spcBef>
              <a:defRPr/>
            </a:pPr>
            <a:r>
              <a:rPr lang="en-US" sz="1900" b="1" i="0" u="none" strike="noStrike" dirty="0">
                <a:solidFill>
                  <a:schemeClr val="accent2">
                    <a:lumMod val="50000"/>
                  </a:schemeClr>
                </a:solidFill>
                <a:effectLst/>
              </a:rPr>
              <a:t>Event Size &amp; Crowd</a:t>
            </a:r>
            <a:r>
              <a:rPr lang="en-US" sz="1900" b="0" i="0" u="none" strike="noStrike" dirty="0">
                <a:solidFill>
                  <a:schemeClr val="accent2">
                    <a:lumMod val="50000"/>
                  </a:schemeClr>
                </a:solidFill>
                <a:effectLst/>
              </a:rPr>
              <a:t>: Runs June 11–July 19, 2026, in 16 cities with 48 teams and 104 games, and over 3 million attendees. Reaches over 5 billion people, mostly men aged 18–55, great for Chick-fil-A’s fans (FIFA, n.d.).</a:t>
            </a:r>
          </a:p>
          <a:p>
            <a:pPr>
              <a:lnSpc>
                <a:spcPct val="100000"/>
              </a:lnSpc>
              <a:spcBef>
                <a:spcPts val="0"/>
              </a:spcBef>
              <a:defRPr/>
            </a:pPr>
            <a:br>
              <a:rPr lang="en-US" sz="1900" b="0" i="0" u="none" strike="noStrike" dirty="0">
                <a:solidFill>
                  <a:schemeClr val="accent2">
                    <a:lumMod val="50000"/>
                  </a:schemeClr>
                </a:solidFill>
                <a:effectLst/>
              </a:rPr>
            </a:br>
            <a:r>
              <a:rPr lang="en-US" sz="1900" b="1" i="0" u="none" strike="noStrike" dirty="0">
                <a:solidFill>
                  <a:schemeClr val="accent2">
                    <a:lumMod val="50000"/>
                  </a:schemeClr>
                </a:solidFill>
                <a:effectLst/>
              </a:rPr>
              <a:t>Purpose Fit</a:t>
            </a:r>
            <a:r>
              <a:rPr lang="en-US" sz="1900" b="0" i="0" u="none" strike="noStrike" dirty="0">
                <a:solidFill>
                  <a:schemeClr val="accent2">
                    <a:lumMod val="50000"/>
                  </a:schemeClr>
                </a:solidFill>
                <a:effectLst/>
              </a:rPr>
              <a:t>: Joins people worldwide, helps with inclusion and green goals, boosts pride, and grows money and culture. Fits Chick-fil-A’s family focus (FIFA, n.d.; Chick-fil-A, n.d.).</a:t>
            </a:r>
          </a:p>
          <a:p>
            <a:pPr>
              <a:lnSpc>
                <a:spcPct val="100000"/>
              </a:lnSpc>
              <a:spcBef>
                <a:spcPts val="0"/>
              </a:spcBef>
              <a:defRPr/>
            </a:pPr>
            <a:br>
              <a:rPr lang="en-US" sz="1900" b="0" i="0" u="none" strike="noStrike" dirty="0">
                <a:solidFill>
                  <a:schemeClr val="accent2">
                    <a:lumMod val="50000"/>
                  </a:schemeClr>
                </a:solidFill>
                <a:effectLst/>
              </a:rPr>
            </a:br>
            <a:r>
              <a:rPr lang="en-US" sz="1900" b="1" i="0" u="none" strike="noStrike" dirty="0">
                <a:solidFill>
                  <a:schemeClr val="accent2">
                    <a:lumMod val="50000"/>
                  </a:schemeClr>
                </a:solidFill>
                <a:effectLst/>
              </a:rPr>
              <a:t>Why Chick-fil-A</a:t>
            </a:r>
            <a:r>
              <a:rPr lang="en-US" sz="1900" b="0" i="0" u="none" strike="noStrike" dirty="0">
                <a:solidFill>
                  <a:schemeClr val="accent2">
                    <a:lumMod val="50000"/>
                  </a:schemeClr>
                </a:solidFill>
                <a:effectLst/>
              </a:rPr>
              <a:t>: Stays unique from Lay’s or Verizon, matches its Europe/Asia plans, and uses the three-country event to grow (Chick-fil-A, n.d.; FIFA, n.d.).</a:t>
            </a:r>
          </a:p>
          <a:p>
            <a:pPr>
              <a:lnSpc>
                <a:spcPct val="100000"/>
              </a:lnSpc>
              <a:spcBef>
                <a:spcPts val="0"/>
              </a:spcBef>
              <a:defRPr/>
            </a:pPr>
            <a:br>
              <a:rPr lang="en-US" sz="1900" b="0" i="0" u="none" strike="noStrike" dirty="0">
                <a:solidFill>
                  <a:schemeClr val="accent2">
                    <a:lumMod val="50000"/>
                  </a:schemeClr>
                </a:solidFill>
                <a:effectLst/>
              </a:rPr>
            </a:br>
            <a:r>
              <a:rPr lang="en-US" sz="1900" b="1" i="0" u="none" strike="noStrike" dirty="0">
                <a:solidFill>
                  <a:schemeClr val="accent2">
                    <a:lumMod val="50000"/>
                  </a:schemeClr>
                </a:solidFill>
                <a:effectLst/>
              </a:rPr>
              <a:t>Sponsorship Perks</a:t>
            </a:r>
            <a:r>
              <a:rPr lang="en-US" sz="1900" b="0" i="0" u="none" strike="noStrike" dirty="0">
                <a:solidFill>
                  <a:schemeClr val="accent2">
                    <a:lumMod val="50000"/>
                  </a:schemeClr>
                </a:solidFill>
                <a:effectLst/>
              </a:rPr>
              <a:t>: Offers naming rights, food stands, fan zones with VR penalty kicks against stars, and ads for 5 billion+ views.</a:t>
            </a:r>
          </a:p>
          <a:p>
            <a:pPr marL="0" indent="0">
              <a:lnSpc>
                <a:spcPct val="100000"/>
              </a:lnSpc>
              <a:spcBef>
                <a:spcPts val="0"/>
              </a:spcBef>
              <a:buNone/>
              <a:defRPr/>
            </a:pPr>
            <a:endParaRPr lang="en-US" sz="1900" b="0" i="0" u="none" strike="noStrike" dirty="0">
              <a:solidFill>
                <a:schemeClr val="accent2">
                  <a:lumMod val="50000"/>
                </a:schemeClr>
              </a:solidFill>
              <a:effectLst/>
            </a:endParaRPr>
          </a:p>
          <a:p>
            <a:pPr>
              <a:lnSpc>
                <a:spcPct val="100000"/>
              </a:lnSpc>
              <a:spcBef>
                <a:spcPts val="0"/>
              </a:spcBef>
              <a:defRPr/>
            </a:pPr>
            <a:r>
              <a:rPr lang="en-US" sz="1900" b="1" i="0" u="none" strike="noStrike" dirty="0">
                <a:solidFill>
                  <a:schemeClr val="accent2">
                    <a:lumMod val="50000"/>
                  </a:schemeClr>
                </a:solidFill>
                <a:effectLst/>
              </a:rPr>
              <a:t>Success Plan</a:t>
            </a:r>
            <a:r>
              <a:rPr lang="en-US" sz="1900" b="0" i="0" u="none" strike="noStrike" dirty="0">
                <a:solidFill>
                  <a:schemeClr val="accent2">
                    <a:lumMod val="50000"/>
                  </a:schemeClr>
                </a:solidFill>
                <a:effectLst/>
              </a:rPr>
              <a:t>: Uses Sprout Social, app QR codes, and Salesforce to hit 5 billion views, reach 2.5 billion, get good vibes, and increase sales.</a:t>
            </a:r>
          </a:p>
          <a:p>
            <a:pPr>
              <a:lnSpc>
                <a:spcPct val="100000"/>
              </a:lnSpc>
              <a:spcBef>
                <a:spcPts val="0"/>
              </a:spcBef>
              <a:defRPr/>
            </a:pPr>
            <a:br>
              <a:rPr lang="en-US" sz="1900" b="0" i="0" u="none" strike="noStrike" dirty="0">
                <a:solidFill>
                  <a:schemeClr val="accent2">
                    <a:lumMod val="50000"/>
                  </a:schemeClr>
                </a:solidFill>
                <a:effectLst/>
              </a:rPr>
            </a:br>
            <a:r>
              <a:rPr lang="en-US" sz="1900" b="1" i="0" u="none" strike="noStrike" dirty="0">
                <a:solidFill>
                  <a:schemeClr val="accent2">
                    <a:lumMod val="50000"/>
                  </a:schemeClr>
                </a:solidFill>
                <a:effectLst/>
              </a:rPr>
              <a:t>Next Step</a:t>
            </a:r>
            <a:r>
              <a:rPr lang="en-US" sz="1900" b="0" i="0" u="none" strike="noStrike" dirty="0">
                <a:solidFill>
                  <a:schemeClr val="accent2">
                    <a:lumMod val="50000"/>
                  </a:schemeClr>
                </a:solidFill>
                <a:effectLst/>
              </a:rPr>
              <a:t>: Partner with FIFA to boost Chick-fil-A worldwide, connect with fans, and set up for new markets.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C0C9C2">
                  <a:lumMod val="50000"/>
                </a:srgbClr>
              </a:solidFill>
              <a:cs typeface="Biome Light" panose="020B0303030204020804" pitchFamily="34" charset="0"/>
            </a:endParaRPr>
          </a:p>
        </p:txBody>
      </p:sp>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2/25/25</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14</a:t>
            </a:fld>
            <a:endParaRPr lang="en-US" dirty="0"/>
          </a:p>
        </p:txBody>
      </p:sp>
    </p:spTree>
    <p:extLst>
      <p:ext uri="{BB962C8B-B14F-4D97-AF65-F5344CB8AC3E}">
        <p14:creationId xmlns:p14="http://schemas.microsoft.com/office/powerpoint/2010/main" val="344939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3A48F-6C9B-4B6F-9063-4E2B2F6CF465}"/>
              </a:ext>
            </a:extLst>
          </p:cNvPr>
          <p:cNvSpPr>
            <a:spLocks noGrp="1"/>
          </p:cNvSpPr>
          <p:nvPr>
            <p:ph type="title"/>
          </p:nvPr>
        </p:nvSpPr>
        <p:spPr/>
        <p:txBody>
          <a:bodyPr/>
          <a:lstStyle/>
          <a:p>
            <a:r>
              <a:rPr lang="en-US" dirty="0"/>
              <a:t>Conclusion</a:t>
            </a:r>
          </a:p>
        </p:txBody>
      </p:sp>
      <p:sp>
        <p:nvSpPr>
          <p:cNvPr id="36" name="Date Placeholder 35">
            <a:extLst>
              <a:ext uri="{FF2B5EF4-FFF2-40B4-BE49-F238E27FC236}">
                <a16:creationId xmlns:a16="http://schemas.microsoft.com/office/drawing/2014/main" id="{8D56EBED-E2E8-4532-9D58-AEA4BF592BE1}"/>
              </a:ext>
            </a:extLst>
          </p:cNvPr>
          <p:cNvSpPr>
            <a:spLocks noGrp="1"/>
          </p:cNvSpPr>
          <p:nvPr>
            <p:ph type="dt" sz="half" idx="2"/>
          </p:nvPr>
        </p:nvSpPr>
        <p:spPr/>
        <p:txBody>
          <a:bodyPr/>
          <a:lstStyle/>
          <a:p>
            <a:fld id="{E2EFFCE6-B714-4312-995E-9A4A689D43F0}" type="datetime1">
              <a:rPr lang="en-US" smtClean="0"/>
              <a:t>2/25/25</a:t>
            </a:fld>
            <a:endParaRPr lang="en-US" dirty="0"/>
          </a:p>
        </p:txBody>
      </p:sp>
      <p:sp>
        <p:nvSpPr>
          <p:cNvPr id="37" name="Slide Number Placeholder 36">
            <a:extLst>
              <a:ext uri="{FF2B5EF4-FFF2-40B4-BE49-F238E27FC236}">
                <a16:creationId xmlns:a16="http://schemas.microsoft.com/office/drawing/2014/main" id="{2448455D-834D-4F56-90F8-4F239B5CA790}"/>
              </a:ext>
            </a:extLst>
          </p:cNvPr>
          <p:cNvSpPr>
            <a:spLocks noGrp="1"/>
          </p:cNvSpPr>
          <p:nvPr>
            <p:ph type="sldNum" sz="quarter" idx="4"/>
          </p:nvPr>
        </p:nvSpPr>
        <p:spPr/>
        <p:txBody>
          <a:bodyPr/>
          <a:lstStyle/>
          <a:p>
            <a:fld id="{294A09A9-5501-47C1-A89A-A340965A2BE2}" type="slidenum">
              <a:rPr lang="en-US" smtClean="0"/>
              <a:pPr/>
              <a:t>15</a:t>
            </a:fld>
            <a:endParaRPr lang="en-US" dirty="0"/>
          </a:p>
        </p:txBody>
      </p:sp>
      <p:sp>
        <p:nvSpPr>
          <p:cNvPr id="3" name="TextBox 2">
            <a:extLst>
              <a:ext uri="{FF2B5EF4-FFF2-40B4-BE49-F238E27FC236}">
                <a16:creationId xmlns:a16="http://schemas.microsoft.com/office/drawing/2014/main" id="{3F52D3B7-A2B2-1BC2-3ABD-E4460FC47680}"/>
              </a:ext>
            </a:extLst>
          </p:cNvPr>
          <p:cNvSpPr txBox="1"/>
          <p:nvPr/>
        </p:nvSpPr>
        <p:spPr>
          <a:xfrm>
            <a:off x="462465" y="2413337"/>
            <a:ext cx="11025554" cy="2031325"/>
          </a:xfrm>
          <a:prstGeom prst="rect">
            <a:avLst/>
          </a:prstGeom>
          <a:noFill/>
        </p:spPr>
        <p:txBody>
          <a:bodyPr wrap="square" rtlCol="0">
            <a:spAutoFit/>
          </a:bodyPr>
          <a:lstStyle/>
          <a:p>
            <a:pPr algn="ctr"/>
            <a:r>
              <a:rPr lang="en-US" b="0" i="0" u="none" strike="noStrike" dirty="0">
                <a:solidFill>
                  <a:schemeClr val="accent2">
                    <a:lumMod val="50000"/>
                  </a:schemeClr>
                </a:solidFill>
                <a:effectLst/>
              </a:rPr>
              <a:t>Chick-fil-A can use the FIFA World Cup 2026’s big size (48 teams, 104 games in 16 cities), huge crowd (5 billion+ viewers), and green focus to grow its U.S. base and start in Europe/Asia. It offers sponsorship levels and a strong success plan that fits FIFA’s goals for people and planet.</a:t>
            </a:r>
          </a:p>
          <a:p>
            <a:pPr algn="l"/>
            <a:endParaRPr lang="en-US" b="0" i="0" u="none" strike="noStrike" dirty="0">
              <a:solidFill>
                <a:schemeClr val="accent2">
                  <a:lumMod val="50000"/>
                </a:schemeClr>
              </a:solidFill>
              <a:effectLst/>
            </a:endParaRPr>
          </a:p>
          <a:p>
            <a:pPr algn="l"/>
            <a:br>
              <a:rPr lang="en-US" b="0" i="0" u="none" strike="noStrike" dirty="0">
                <a:solidFill>
                  <a:schemeClr val="accent2">
                    <a:lumMod val="50000"/>
                  </a:schemeClr>
                </a:solidFill>
                <a:effectLst/>
              </a:rPr>
            </a:br>
            <a:r>
              <a:rPr lang="en-US" b="1" i="0" u="none" strike="noStrike" dirty="0">
                <a:solidFill>
                  <a:schemeClr val="accent2">
                    <a:lumMod val="50000"/>
                  </a:schemeClr>
                </a:solidFill>
                <a:effectLst/>
              </a:rPr>
              <a:t>Results</a:t>
            </a:r>
            <a:r>
              <a:rPr lang="en-US" b="0" i="0" u="none" strike="noStrike" dirty="0">
                <a:solidFill>
                  <a:schemeClr val="accent2">
                    <a:lumMod val="50000"/>
                  </a:schemeClr>
                </a:solidFill>
                <a:effectLst/>
              </a:rPr>
              <a:t>: Grow Chick-fil-A’s U.S. fame, connect with families worldwide, and get ready for new international markets.</a:t>
            </a:r>
          </a:p>
        </p:txBody>
      </p:sp>
      <p:sp>
        <p:nvSpPr>
          <p:cNvPr id="4" name="TextBox 3">
            <a:extLst>
              <a:ext uri="{FF2B5EF4-FFF2-40B4-BE49-F238E27FC236}">
                <a16:creationId xmlns:a16="http://schemas.microsoft.com/office/drawing/2014/main" id="{6DE6AAF0-F4DC-2D62-FD19-A8CC67B7FC14}"/>
              </a:ext>
            </a:extLst>
          </p:cNvPr>
          <p:cNvSpPr txBox="1"/>
          <p:nvPr/>
        </p:nvSpPr>
        <p:spPr>
          <a:xfrm>
            <a:off x="896829" y="5045982"/>
            <a:ext cx="9313971" cy="1077218"/>
          </a:xfrm>
          <a:prstGeom prst="rect">
            <a:avLst/>
          </a:prstGeom>
          <a:noFill/>
        </p:spPr>
        <p:txBody>
          <a:bodyPr wrap="square" rtlCol="0">
            <a:spAutoFit/>
          </a:bodyPr>
          <a:lstStyle/>
          <a:p>
            <a:pPr algn="ctr"/>
            <a:r>
              <a:rPr lang="en-US" sz="3200" b="1" dirty="0">
                <a:solidFill>
                  <a:schemeClr val="accent2">
                    <a:lumMod val="50000"/>
                  </a:schemeClr>
                </a:solidFill>
              </a:rPr>
              <a:t>Grow and make an impact</a:t>
            </a:r>
          </a:p>
          <a:p>
            <a:pPr algn="ctr"/>
            <a:r>
              <a:rPr lang="en-US" sz="3200" b="1" dirty="0">
                <a:solidFill>
                  <a:schemeClr val="accent2">
                    <a:lumMod val="50000"/>
                  </a:schemeClr>
                </a:solidFill>
              </a:rPr>
              <a:t>Join us as a key sponsor</a:t>
            </a:r>
          </a:p>
        </p:txBody>
      </p:sp>
    </p:spTree>
    <p:extLst>
      <p:ext uri="{BB962C8B-B14F-4D97-AF65-F5344CB8AC3E}">
        <p14:creationId xmlns:p14="http://schemas.microsoft.com/office/powerpoint/2010/main" val="445070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518DAF20-C89B-C9B2-69D6-26B503B7C8FE}"/>
              </a:ext>
            </a:extLst>
          </p:cNvPr>
          <p:cNvSpPr>
            <a:spLocks noGrp="1"/>
          </p:cNvSpPr>
          <p:nvPr>
            <p:ph type="dt" sz="half" idx="2"/>
          </p:nvPr>
        </p:nvSpPr>
        <p:spPr/>
        <p:txBody>
          <a:bodyPr/>
          <a:lstStyle/>
          <a:p>
            <a:fld id="{8CD80274-DEF2-4F5D-8F74-69D0554CED55}" type="datetime1">
              <a:rPr lang="en-US" smtClean="0"/>
              <a:t>2/25/25</a:t>
            </a:fld>
            <a:endParaRPr lang="en-US" dirty="0"/>
          </a:p>
        </p:txBody>
      </p:sp>
      <p:sp>
        <p:nvSpPr>
          <p:cNvPr id="8" name="Slide Number Placeholder 7">
            <a:extLst>
              <a:ext uri="{FF2B5EF4-FFF2-40B4-BE49-F238E27FC236}">
                <a16:creationId xmlns:a16="http://schemas.microsoft.com/office/drawing/2014/main" id="{13E0E9C8-4441-F114-853E-DDFE948BDF86}"/>
              </a:ext>
            </a:extLst>
          </p:cNvPr>
          <p:cNvSpPr>
            <a:spLocks noGrp="1"/>
          </p:cNvSpPr>
          <p:nvPr>
            <p:ph type="sldNum" sz="quarter" idx="4"/>
          </p:nvPr>
        </p:nvSpPr>
        <p:spPr/>
        <p:txBody>
          <a:bodyPr/>
          <a:lstStyle/>
          <a:p>
            <a:fld id="{294A09A9-5501-47C1-A89A-A340965A2BE2}" type="slidenum">
              <a:rPr lang="en-US" smtClean="0"/>
              <a:pPr/>
              <a:t>16</a:t>
            </a:fld>
            <a:endParaRPr lang="en-US" dirty="0"/>
          </a:p>
        </p:txBody>
      </p:sp>
      <p:sp>
        <p:nvSpPr>
          <p:cNvPr id="9" name="Title 8">
            <a:extLst>
              <a:ext uri="{FF2B5EF4-FFF2-40B4-BE49-F238E27FC236}">
                <a16:creationId xmlns:a16="http://schemas.microsoft.com/office/drawing/2014/main" id="{594546CA-A3B9-3337-A749-A0083C09072D}"/>
              </a:ext>
            </a:extLst>
          </p:cNvPr>
          <p:cNvSpPr>
            <a:spLocks noGrp="1"/>
          </p:cNvSpPr>
          <p:nvPr>
            <p:ph type="title"/>
          </p:nvPr>
        </p:nvSpPr>
        <p:spPr>
          <a:xfrm>
            <a:off x="440410" y="2758692"/>
            <a:ext cx="3935647" cy="1340615"/>
          </a:xfrm>
        </p:spPr>
        <p:txBody>
          <a:bodyPr/>
          <a:lstStyle/>
          <a:p>
            <a:r>
              <a:rPr lang="en-US" dirty="0">
                <a:solidFill>
                  <a:schemeClr val="accent2">
                    <a:lumMod val="50000"/>
                  </a:schemeClr>
                </a:solidFill>
              </a:rPr>
              <a:t>references</a:t>
            </a:r>
          </a:p>
        </p:txBody>
      </p:sp>
      <p:sp>
        <p:nvSpPr>
          <p:cNvPr id="10" name="TextBox 9">
            <a:extLst>
              <a:ext uri="{FF2B5EF4-FFF2-40B4-BE49-F238E27FC236}">
                <a16:creationId xmlns:a16="http://schemas.microsoft.com/office/drawing/2014/main" id="{08546B31-10F7-22EC-C5A2-889C5F4BE0E4}"/>
              </a:ext>
            </a:extLst>
          </p:cNvPr>
          <p:cNvSpPr txBox="1"/>
          <p:nvPr/>
        </p:nvSpPr>
        <p:spPr>
          <a:xfrm>
            <a:off x="4376057" y="115660"/>
            <a:ext cx="7682593" cy="7017306"/>
          </a:xfrm>
          <a:prstGeom prst="rect">
            <a:avLst/>
          </a:prstGeom>
          <a:noFill/>
        </p:spPr>
        <p:txBody>
          <a:bodyPr wrap="square" rtlCol="0">
            <a:spAutoFit/>
          </a:bodyPr>
          <a:lstStyle/>
          <a:p>
            <a:r>
              <a:rPr lang="en-US" b="0" i="0" u="none" strike="noStrike" dirty="0">
                <a:solidFill>
                  <a:schemeClr val="accent2">
                    <a:lumMod val="50000"/>
                  </a:schemeClr>
                </a:solidFill>
                <a:effectLst/>
              </a:rPr>
              <a:t>Chick-fil-A. (n.d.). </a:t>
            </a:r>
            <a:r>
              <a:rPr lang="en-US" b="0" i="1" u="none" strike="noStrike" dirty="0">
                <a:solidFill>
                  <a:schemeClr val="accent2">
                    <a:lumMod val="50000"/>
                  </a:schemeClr>
                </a:solidFill>
                <a:effectLst/>
              </a:rPr>
              <a:t>Is Chick-fil-A international?</a:t>
            </a:r>
            <a:r>
              <a:rPr lang="en-US" b="0" i="0" u="none" strike="noStrike" dirty="0">
                <a:solidFill>
                  <a:schemeClr val="accent2">
                    <a:lumMod val="50000"/>
                  </a:schemeClr>
                </a:solidFill>
                <a:effectLst/>
              </a:rPr>
              <a:t> </a:t>
            </a:r>
            <a:br>
              <a:rPr lang="en-US" b="0" i="0" u="none" strike="noStrike" dirty="0">
                <a:solidFill>
                  <a:schemeClr val="accent2">
                    <a:lumMod val="50000"/>
                  </a:schemeClr>
                </a:solidFill>
                <a:effectLst/>
              </a:rPr>
            </a:br>
            <a:endParaRPr lang="en-US" b="0" i="0" u="none" strike="noStrike" dirty="0">
              <a:solidFill>
                <a:schemeClr val="accent2">
                  <a:lumMod val="50000"/>
                </a:schemeClr>
              </a:solidFill>
              <a:effectLst/>
            </a:endParaRPr>
          </a:p>
          <a:p>
            <a:r>
              <a:rPr lang="en-US" b="0" i="0" u="none" strike="noStrike" dirty="0">
                <a:solidFill>
                  <a:schemeClr val="accent2">
                    <a:lumMod val="50000"/>
                  </a:schemeClr>
                </a:solidFill>
                <a:effectLst/>
              </a:rPr>
              <a:t>Coelho, M. G. R., Amorim, J. G. B. D., &amp; Almeida, V. M. C. D. (2019). Sports mega-event sponsorship: The impact of FIFA reputation and world cup image on sponsor brand equity. BAR-Brazilian Administration Review, 16, e180071.</a:t>
            </a:r>
          </a:p>
          <a:p>
            <a:endParaRPr lang="en-US" b="0" i="0" u="none" strike="noStrike" dirty="0">
              <a:solidFill>
                <a:schemeClr val="accent2">
                  <a:lumMod val="50000"/>
                </a:schemeClr>
              </a:solidFill>
              <a:effectLst/>
            </a:endParaRPr>
          </a:p>
          <a:p>
            <a:r>
              <a:rPr lang="en-US" b="0" i="0" u="none" strike="noStrike" dirty="0">
                <a:solidFill>
                  <a:schemeClr val="accent2">
                    <a:lumMod val="50000"/>
                  </a:schemeClr>
                </a:solidFill>
                <a:effectLst/>
              </a:rPr>
              <a:t>Doherty, A., &amp; Murray, M. (2007). The strategic sponsorship process in a non-profit sport organization. </a:t>
            </a:r>
            <a:r>
              <a:rPr lang="en-US" b="0" i="1" u="none" strike="noStrike" dirty="0">
                <a:solidFill>
                  <a:schemeClr val="accent2">
                    <a:lumMod val="50000"/>
                  </a:schemeClr>
                </a:solidFill>
                <a:effectLst/>
              </a:rPr>
              <a:t>Sport Marketing Quarterly, 16</a:t>
            </a:r>
            <a:r>
              <a:rPr lang="en-US" b="0" i="0" u="none" strike="noStrike" dirty="0">
                <a:solidFill>
                  <a:schemeClr val="accent2">
                    <a:lumMod val="50000"/>
                  </a:schemeClr>
                </a:solidFill>
                <a:effectLst/>
              </a:rPr>
              <a:t>(1), 49–59.</a:t>
            </a:r>
            <a:br>
              <a:rPr lang="en-US" b="0" i="0" u="none" strike="noStrike" dirty="0">
                <a:solidFill>
                  <a:schemeClr val="accent2">
                    <a:lumMod val="50000"/>
                  </a:schemeClr>
                </a:solidFill>
                <a:effectLst/>
              </a:rPr>
            </a:br>
            <a:endParaRPr lang="en-US" b="0" i="0" u="none" strike="noStrike" dirty="0">
              <a:solidFill>
                <a:schemeClr val="accent2">
                  <a:lumMod val="50000"/>
                </a:schemeClr>
              </a:solidFill>
              <a:effectLst/>
            </a:endParaRPr>
          </a:p>
          <a:p>
            <a:r>
              <a:rPr lang="en-US" b="0" i="0" u="none" strike="noStrike" dirty="0">
                <a:solidFill>
                  <a:schemeClr val="accent2">
                    <a:lumMod val="50000"/>
                  </a:schemeClr>
                </a:solidFill>
                <a:effectLst/>
              </a:rPr>
              <a:t>FIFA. (n.d.). </a:t>
            </a:r>
            <a:r>
              <a:rPr lang="en-US" b="0" i="1" u="none" strike="noStrike" dirty="0">
                <a:solidFill>
                  <a:schemeClr val="accent2">
                    <a:lumMod val="50000"/>
                  </a:schemeClr>
                </a:solidFill>
                <a:effectLst/>
              </a:rPr>
              <a:t>FIFA World Cup 26 Canada/United States/Mexico</a:t>
            </a:r>
            <a:r>
              <a:rPr lang="en-US" b="0" i="0" u="none" strike="noStrike" dirty="0">
                <a:solidFill>
                  <a:schemeClr val="accent2">
                    <a:lumMod val="50000"/>
                  </a:schemeClr>
                </a:solidFill>
                <a:effectLst/>
              </a:rPr>
              <a:t>.</a:t>
            </a:r>
          </a:p>
          <a:p>
            <a:endParaRPr lang="en-US" dirty="0">
              <a:solidFill>
                <a:schemeClr val="accent2">
                  <a:lumMod val="50000"/>
                </a:schemeClr>
              </a:solidFill>
            </a:endParaRPr>
          </a:p>
          <a:p>
            <a:r>
              <a:rPr lang="en-US" b="0" i="0" u="none" strike="noStrike" dirty="0">
                <a:solidFill>
                  <a:schemeClr val="accent2">
                    <a:lumMod val="50000"/>
                  </a:schemeClr>
                </a:solidFill>
                <a:effectLst/>
              </a:rPr>
              <a:t>FIFA. (n.d.). </a:t>
            </a:r>
            <a:r>
              <a:rPr lang="en-US" b="0" i="1" u="none" strike="noStrike" dirty="0">
                <a:solidFill>
                  <a:schemeClr val="accent2">
                    <a:lumMod val="50000"/>
                  </a:schemeClr>
                </a:solidFill>
                <a:effectLst/>
              </a:rPr>
              <a:t>Sustainability at the FIFA World Cup 2022</a:t>
            </a:r>
            <a:endParaRPr lang="en-US" dirty="0">
              <a:solidFill>
                <a:schemeClr val="accent2">
                  <a:lumMod val="50000"/>
                </a:schemeClr>
              </a:solidFill>
            </a:endParaRPr>
          </a:p>
          <a:p>
            <a:endParaRPr lang="en-US" dirty="0">
              <a:solidFill>
                <a:schemeClr val="accent2">
                  <a:lumMod val="50000"/>
                </a:schemeClr>
              </a:solidFill>
            </a:endParaRPr>
          </a:p>
          <a:p>
            <a:r>
              <a:rPr lang="en-US" b="0" i="0" u="none" strike="noStrike" dirty="0">
                <a:solidFill>
                  <a:schemeClr val="accent2">
                    <a:lumMod val="50000"/>
                  </a:schemeClr>
                </a:solidFill>
                <a:effectLst/>
              </a:rPr>
              <a:t>Noordin, A. A. M., Kamaruddin, Z., Amer, A., &amp; Zulkepli, D. F. (2011). The power of sponsorship program in enhancing brand image: A study on the effectiveness of Kia sponsoring the FIFA World Cup 2010. </a:t>
            </a:r>
            <a:r>
              <a:rPr lang="en-US" b="0" i="1" u="none" strike="noStrike" dirty="0">
                <a:solidFill>
                  <a:schemeClr val="accent2">
                    <a:lumMod val="50000"/>
                  </a:schemeClr>
                </a:solidFill>
                <a:effectLst/>
              </a:rPr>
              <a:t>2nd International Conference on Business and Economic Research (2nd ICBER 2011) Proceeding</a:t>
            </a:r>
            <a:r>
              <a:rPr lang="en-US" b="0" i="0" u="none" strike="noStrike" dirty="0">
                <a:solidFill>
                  <a:schemeClr val="accent2">
                    <a:lumMod val="50000"/>
                  </a:schemeClr>
                </a:solidFill>
                <a:effectLst/>
              </a:rPr>
              <a:t>, 177–196.</a:t>
            </a:r>
          </a:p>
          <a:p>
            <a:endParaRPr lang="en-US" b="0" i="0" u="none" strike="noStrike" dirty="0">
              <a:solidFill>
                <a:schemeClr val="accent2">
                  <a:lumMod val="50000"/>
                </a:schemeClr>
              </a:solidFill>
              <a:effectLst/>
            </a:endParaRPr>
          </a:p>
          <a:p>
            <a:r>
              <a:rPr lang="en-US" b="0" i="0" u="none" strike="noStrike" dirty="0">
                <a:solidFill>
                  <a:schemeClr val="accent2">
                    <a:lumMod val="50000"/>
                  </a:schemeClr>
                </a:solidFill>
                <a:effectLst/>
              </a:rPr>
              <a:t>RTL (sport.de). (2018, July 15). </a:t>
            </a:r>
            <a:r>
              <a:rPr lang="en-US" b="0" i="1" u="none" strike="noStrike" dirty="0">
                <a:solidFill>
                  <a:schemeClr val="accent2">
                    <a:lumMod val="50000"/>
                  </a:schemeClr>
                </a:solidFill>
                <a:effectLst/>
              </a:rPr>
              <a:t>Average and total attendance at FIFA football World Cup games from 1930 to 2018</a:t>
            </a:r>
            <a:r>
              <a:rPr lang="en-US" b="0" i="0" u="none" strike="noStrike" dirty="0">
                <a:solidFill>
                  <a:schemeClr val="accent2">
                    <a:lumMod val="50000"/>
                  </a:schemeClr>
                </a:solidFill>
                <a:effectLst/>
              </a:rPr>
              <a:t>[Graph]. Statista.</a:t>
            </a:r>
          </a:p>
          <a:p>
            <a:endParaRPr lang="en-US" dirty="0"/>
          </a:p>
        </p:txBody>
      </p:sp>
    </p:spTree>
    <p:extLst>
      <p:ext uri="{BB962C8B-B14F-4D97-AF65-F5344CB8AC3E}">
        <p14:creationId xmlns:p14="http://schemas.microsoft.com/office/powerpoint/2010/main" val="3356280589"/>
      </p:ext>
    </p:extLst>
  </p:cSld>
  <p:clrMapOvr>
    <a:masterClrMapping/>
  </p:clrMapOvr>
</p:sld>
</file>

<file path=ppt/theme/theme1.xml><?xml version="1.0" encoding="utf-8"?>
<a:theme xmlns:a="http://schemas.openxmlformats.org/drawingml/2006/main" name="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3.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505</TotalTime>
  <Words>2350</Words>
  <Application>Microsoft Macintosh PowerPoint</Application>
  <PresentationFormat>Widescreen</PresentationFormat>
  <Paragraphs>129</Paragraphs>
  <Slides>16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Biome Light</vt:lpstr>
      <vt:lpstr>Calibri</vt:lpstr>
      <vt:lpstr>Office Theme</vt:lpstr>
      <vt:lpstr>Sponsorship Proposal: FIFA World Cup 2026 </vt:lpstr>
      <vt:lpstr>FIFA World Cup 2026 Overview </vt:lpstr>
      <vt:lpstr>FIFA World Cup 2026 Overview</vt:lpstr>
      <vt:lpstr>Current Partners</vt:lpstr>
      <vt:lpstr>Event Purpose</vt:lpstr>
      <vt:lpstr>Potential New Sponsors</vt:lpstr>
      <vt:lpstr>Unique Market Position: Avoids overlap with existing sponsors like Lay’s (snacks), Verizon (telecom), or Home Depot (home improvement), Chick-fil-A will be the only fast-food brand. Expansion Synergy: Chick-fil-A’s planned 2025–2030 entry into Europe and Asia aligns with the World Cup’s 5 billion+ global audience, providing a platform to build brand awareness in new markets ahead of its international rollout (Chick-fil-A, n.d.; FIFA, n.d.). Community Fit: Its focus on family values, hospitality, and community service (e.g., local charity support) mirrors FIFA’s Goals that aim to social inclusion and well-being, enhancing its appeal as a socially responsible partner (FIFA, n.d.; Chick-fil-A, n.d.). Strategic Timing: Sponsorship in 2026 strengthens its North American dominance (90% U.S.-based) while laying groundwork for international growth, leveraging the tri-nation host focus and North American audience concentration (FIFA, n.d.).</vt:lpstr>
      <vt:lpstr>Sponsorship Tiers</vt:lpstr>
      <vt:lpstr>Activities</vt:lpstr>
      <vt:lpstr>Sponsorship Packages </vt:lpstr>
      <vt:lpstr>Value for Chick-fil-A</vt:lpstr>
      <vt:lpstr>ROI Assessment - Digital Tools</vt:lpstr>
      <vt:lpstr>ROI Metrics &amp; Strategy </vt:lpstr>
      <vt:lpstr>Closing Summary </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Salem Alhabshi</dc:creator>
  <cp:lastModifiedBy>Salem Alhabshi</cp:lastModifiedBy>
  <cp:revision>1</cp:revision>
  <dcterms:created xsi:type="dcterms:W3CDTF">2025-02-21T19:03:28Z</dcterms:created>
  <dcterms:modified xsi:type="dcterms:W3CDTF">2025-02-25T20:18:06Z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