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43891200" cy="32918400"/>
  <p:notesSz cx="6858000" cy="9144000"/>
  <p:embeddedFontLst>
    <p:embeddedFont>
      <p:font typeface="Libre Franklin Bold" pitchFamily="2" charset="77"/>
      <p:bold r:id="rId6"/>
    </p:embeddedFont>
  </p:embeddedFontLst>
  <p:defaultTextStyle>
    <a:defPPr>
      <a:defRPr lang="en-US"/>
    </a:defPPr>
    <a:lvl1pPr marL="0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1pPr>
    <a:lvl2pPr marL="1228725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2pPr>
    <a:lvl3pPr marL="2458085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3pPr>
    <a:lvl4pPr marL="3686810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4pPr>
    <a:lvl5pPr marL="4915535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5pPr>
    <a:lvl6pPr marL="6144895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6pPr>
    <a:lvl7pPr marL="7373620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7pPr>
    <a:lvl8pPr marL="8602980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8pPr>
    <a:lvl9pPr marL="9831705" algn="l" defTabSz="2458085" rtl="0" eaLnBrk="1" latinLnBrk="0" hangingPunct="1">
      <a:defRPr sz="48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82"/>
  </p:normalViewPr>
  <p:slideViewPr>
    <p:cSldViewPr snapToGrid="0" showGuides="1">
      <p:cViewPr varScale="1">
        <p:scale>
          <a:sx n="24" d="100"/>
          <a:sy n="24" d="100"/>
        </p:scale>
        <p:origin x="2472" y="288"/>
      </p:cViewPr>
      <p:guideLst>
        <p:guide orient="horz" pos="6912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6817362"/>
            <a:ext cx="1865376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1840" y="12435840"/>
            <a:ext cx="1536192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680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1" y="14102082"/>
            <a:ext cx="18653760" cy="4358640"/>
          </a:xfrm>
        </p:spPr>
        <p:txBody>
          <a:bodyPr anchor="t"/>
          <a:lstStyle>
            <a:lvl1pPr algn="l">
              <a:defRPr sz="9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1" y="9301483"/>
            <a:ext cx="18653760" cy="4800598"/>
          </a:xfrm>
        </p:spPr>
        <p:txBody>
          <a:bodyPr anchor="b"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109728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5120641"/>
            <a:ext cx="9692640" cy="14483082"/>
          </a:xfrm>
        </p:spPr>
        <p:txBody>
          <a:bodyPr/>
          <a:lstStyle>
            <a:lvl1pPr>
              <a:defRPr sz="6720"/>
            </a:lvl1pPr>
            <a:lvl2pPr>
              <a:defRPr sz="5760"/>
            </a:lvl2pPr>
            <a:lvl3pPr>
              <a:defRPr sz="4800"/>
            </a:lvl3pPr>
            <a:lvl4pPr>
              <a:defRPr sz="4320"/>
            </a:lvl4pPr>
            <a:lvl5pPr>
              <a:defRPr sz="4320"/>
            </a:lvl5pPr>
            <a:lvl6pPr>
              <a:defRPr sz="4320"/>
            </a:lvl6pPr>
            <a:lvl7pPr>
              <a:defRPr sz="4320"/>
            </a:lvl7pPr>
            <a:lvl8pPr>
              <a:defRPr sz="4320"/>
            </a:lvl8pPr>
            <a:lvl9pPr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5680" y="5120641"/>
            <a:ext cx="9692640" cy="14483082"/>
          </a:xfrm>
        </p:spPr>
        <p:txBody>
          <a:bodyPr/>
          <a:lstStyle>
            <a:lvl1pPr>
              <a:defRPr sz="6720"/>
            </a:lvl1pPr>
            <a:lvl2pPr>
              <a:defRPr sz="5760"/>
            </a:lvl2pPr>
            <a:lvl3pPr>
              <a:defRPr sz="4800"/>
            </a:lvl3pPr>
            <a:lvl4pPr>
              <a:defRPr sz="4320"/>
            </a:lvl4pPr>
            <a:lvl5pPr>
              <a:defRPr sz="4320"/>
            </a:lvl5pPr>
            <a:lvl6pPr>
              <a:defRPr sz="4320"/>
            </a:lvl6pPr>
            <a:lvl7pPr>
              <a:defRPr sz="4320"/>
            </a:lvl7pPr>
            <a:lvl8pPr>
              <a:defRPr sz="4320"/>
            </a:lvl8pPr>
            <a:lvl9pPr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912362"/>
            <a:ext cx="9696451" cy="204723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6959600"/>
            <a:ext cx="9696451" cy="12644122"/>
          </a:xfrm>
        </p:spPr>
        <p:txBody>
          <a:bodyPr/>
          <a:lstStyle>
            <a:lvl1pPr>
              <a:defRPr sz="5760"/>
            </a:lvl1pPr>
            <a:lvl2pPr>
              <a:defRPr sz="4800"/>
            </a:lvl2pPr>
            <a:lvl3pPr>
              <a:defRPr sz="4320"/>
            </a:lvl3pPr>
            <a:lvl4pPr>
              <a:defRPr sz="3840"/>
            </a:lvl4pPr>
            <a:lvl5pPr>
              <a:defRPr sz="3840"/>
            </a:lvl5pPr>
            <a:lvl6pPr>
              <a:defRPr sz="3840"/>
            </a:lvl6pPr>
            <a:lvl7pPr>
              <a:defRPr sz="3840"/>
            </a:lvl7pPr>
            <a:lvl8pPr>
              <a:defRPr sz="3840"/>
            </a:lvl8pPr>
            <a:lvl9pPr>
              <a:defRPr sz="3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8061" y="4912362"/>
            <a:ext cx="9700260" cy="204723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8061" y="6959600"/>
            <a:ext cx="9700260" cy="12644122"/>
          </a:xfrm>
        </p:spPr>
        <p:txBody>
          <a:bodyPr/>
          <a:lstStyle>
            <a:lvl1pPr>
              <a:defRPr sz="5760"/>
            </a:lvl1pPr>
            <a:lvl2pPr>
              <a:defRPr sz="4800"/>
            </a:lvl2pPr>
            <a:lvl3pPr>
              <a:defRPr sz="4320"/>
            </a:lvl3pPr>
            <a:lvl4pPr>
              <a:defRPr sz="3840"/>
            </a:lvl4pPr>
            <a:lvl5pPr>
              <a:defRPr sz="3840"/>
            </a:lvl5pPr>
            <a:lvl6pPr>
              <a:defRPr sz="3840"/>
            </a:lvl6pPr>
            <a:lvl7pPr>
              <a:defRPr sz="3840"/>
            </a:lvl7pPr>
            <a:lvl8pPr>
              <a:defRPr sz="3840"/>
            </a:lvl8pPr>
            <a:lvl9pPr>
              <a:defRPr sz="3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1" y="873760"/>
            <a:ext cx="7219951" cy="37185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120" y="873761"/>
            <a:ext cx="12268200" cy="18729962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1" y="4592321"/>
            <a:ext cx="7219951" cy="15011402"/>
          </a:xfrm>
        </p:spPr>
        <p:txBody>
          <a:bodyPr/>
          <a:lstStyle>
            <a:lvl1pPr marL="0" indent="0">
              <a:buNone/>
              <a:defRPr sz="3360"/>
            </a:lvl1pPr>
            <a:lvl2pPr marL="1097280" indent="0">
              <a:buNone/>
              <a:defRPr sz="2880"/>
            </a:lvl2pPr>
            <a:lvl3pPr marL="2194560" indent="0">
              <a:buNone/>
              <a:defRPr sz="2400"/>
            </a:lvl3pPr>
            <a:lvl4pPr marL="3291840" indent="0">
              <a:buNone/>
              <a:defRPr sz="2160"/>
            </a:lvl4pPr>
            <a:lvl5pPr marL="4389120" indent="0">
              <a:buNone/>
              <a:defRPr sz="2160"/>
            </a:lvl5pPr>
            <a:lvl6pPr marL="5486400" indent="0">
              <a:buNone/>
              <a:defRPr sz="2160"/>
            </a:lvl6pPr>
            <a:lvl7pPr marL="6583680" indent="0">
              <a:buNone/>
              <a:defRPr sz="2160"/>
            </a:lvl7pPr>
            <a:lvl8pPr marL="7680960" indent="0">
              <a:buNone/>
              <a:defRPr sz="2160"/>
            </a:lvl8pPr>
            <a:lvl9pPr marL="8778240" indent="0">
              <a:buNone/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491" y="15361920"/>
            <a:ext cx="13167360" cy="1813562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491" y="1960880"/>
            <a:ext cx="13167360" cy="13167360"/>
          </a:xfrm>
        </p:spPr>
        <p:txBody>
          <a:bodyPr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491" y="17175482"/>
            <a:ext cx="13167360" cy="2575558"/>
          </a:xfrm>
        </p:spPr>
        <p:txBody>
          <a:bodyPr/>
          <a:lstStyle>
            <a:lvl1pPr marL="0" indent="0">
              <a:buNone/>
              <a:defRPr sz="3360"/>
            </a:lvl1pPr>
            <a:lvl2pPr marL="1097280" indent="0">
              <a:buNone/>
              <a:defRPr sz="2880"/>
            </a:lvl2pPr>
            <a:lvl3pPr marL="2194560" indent="0">
              <a:buNone/>
              <a:defRPr sz="2400"/>
            </a:lvl3pPr>
            <a:lvl4pPr marL="3291840" indent="0">
              <a:buNone/>
              <a:defRPr sz="2160"/>
            </a:lvl4pPr>
            <a:lvl5pPr marL="4389120" indent="0">
              <a:buNone/>
              <a:defRPr sz="2160"/>
            </a:lvl5pPr>
            <a:lvl6pPr marL="5486400" indent="0">
              <a:buNone/>
              <a:defRPr sz="2160"/>
            </a:lvl6pPr>
            <a:lvl7pPr marL="6583680" indent="0">
              <a:buNone/>
              <a:defRPr sz="2160"/>
            </a:lvl7pPr>
            <a:lvl8pPr marL="7680960" indent="0">
              <a:buNone/>
              <a:defRPr sz="2160"/>
            </a:lvl8pPr>
            <a:lvl9pPr marL="8778240" indent="0">
              <a:buNone/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910560" y="878843"/>
            <a:ext cx="4937760" cy="18724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7280" y="878843"/>
            <a:ext cx="14447520" cy="18724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878842"/>
            <a:ext cx="19751040" cy="365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5120641"/>
            <a:ext cx="19751040" cy="1448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20340322"/>
            <a:ext cx="5120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98080" y="20340322"/>
            <a:ext cx="69494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27680" y="20340322"/>
            <a:ext cx="5120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2194560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1pPr>
      <a:lvl2pPr marL="1783080" indent="-685800" algn="l" defTabSz="2194560" rtl="0" eaLnBrk="1" latinLnBrk="0" hangingPunct="1">
        <a:spcBef>
          <a:spcPct val="20000"/>
        </a:spcBef>
        <a:buFont typeface="Arial" panose="020B0604020202020204" pitchFamily="34" charset="0"/>
        <a:buChar char="–"/>
        <a:defRPr sz="672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spcBef>
          <a:spcPct val="200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spcBef>
          <a:spcPct val="20000"/>
        </a:spcBef>
        <a:buFont typeface="Arial" panose="020B0604020202020204" pitchFamily="34" charset="0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spcBef>
          <a:spcPct val="20000"/>
        </a:spcBef>
        <a:buFont typeface="Arial" panose="020B0604020202020204" pitchFamily="34" charset="0"/>
        <a:buChar char="»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60" r="16235" b="46879"/>
          <a:stretch>
            <a:fillRect/>
          </a:stretch>
        </p:blipFill>
        <p:spPr>
          <a:xfrm>
            <a:off x="1" y="10208410"/>
            <a:ext cx="13764986" cy="22043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8747" r="41480"/>
          <a:stretch>
            <a:fillRect/>
          </a:stretch>
        </p:blipFill>
        <p:spPr>
          <a:xfrm rot="16200000">
            <a:off x="20303482" y="-20842957"/>
            <a:ext cx="3075658" cy="4458579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8912" y="209452"/>
            <a:ext cx="11036724" cy="2480983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0507960" y="-431800"/>
            <a:ext cx="6528435" cy="25914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7130"/>
              </a:lnSpc>
            </a:pPr>
            <a:r>
              <a:rPr lang="en-US" sz="19350" dirty="0">
                <a:solidFill>
                  <a:srgbClr val="00FFFF"/>
                </a:solidFill>
                <a:latin typeface="Furore" panose="02000503020000020004"/>
              </a:rPr>
              <a:t>#6</a:t>
            </a:r>
            <a:endParaRPr lang="en-US" sz="19380" dirty="0">
              <a:solidFill>
                <a:srgbClr val="00FFFF"/>
              </a:solidFill>
              <a:latin typeface="Furore" panose="020005030200000200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5937382" y="344858"/>
            <a:ext cx="6066619" cy="181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25"/>
              </a:lnSpc>
            </a:pPr>
            <a:r>
              <a:rPr lang="en-US" sz="3000" dirty="0">
                <a:solidFill>
                  <a:srgbClr val="FFFFFF"/>
                </a:solidFill>
                <a:latin typeface="Furore" panose="02000503020000020004"/>
              </a:rPr>
              <a:t>U.S. Public</a:t>
            </a:r>
          </a:p>
          <a:p>
            <a:pPr>
              <a:lnSpc>
                <a:spcPts val="4225"/>
              </a:lnSpc>
            </a:pPr>
            <a:r>
              <a:rPr lang="en-US" sz="3000" dirty="0">
                <a:solidFill>
                  <a:srgbClr val="FFFFFF"/>
                </a:solidFill>
                <a:latin typeface="Furore" panose="02000503020000020004"/>
              </a:rPr>
              <a:t>Hospitality Program</a:t>
            </a:r>
          </a:p>
          <a:p>
            <a:pPr>
              <a:lnSpc>
                <a:spcPts val="3060"/>
              </a:lnSpc>
            </a:pPr>
            <a:r>
              <a:rPr lang="en-US" sz="2150" dirty="0">
                <a:solidFill>
                  <a:srgbClr val="FFFFFF"/>
                </a:solidFill>
                <a:latin typeface="Furore" panose="02000503020000020004"/>
              </a:rPr>
              <a:t>QS World University Rankings</a:t>
            </a:r>
          </a:p>
          <a:p>
            <a:pPr>
              <a:lnSpc>
                <a:spcPts val="3060"/>
              </a:lnSpc>
            </a:pPr>
            <a:r>
              <a:rPr lang="en-US" sz="2150" dirty="0">
                <a:solidFill>
                  <a:srgbClr val="FFFFFF"/>
                </a:solidFill>
                <a:latin typeface="Furore" panose="02000503020000020004"/>
              </a:rPr>
              <a:t>2024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78650" y="-474977"/>
            <a:ext cx="10700091" cy="2979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30"/>
              </a:lnSpc>
            </a:pPr>
            <a:r>
              <a:rPr lang="en-US" sz="19350" dirty="0">
                <a:solidFill>
                  <a:srgbClr val="00FFFF"/>
                </a:solidFill>
                <a:latin typeface="Furore" panose="02000503020000020004"/>
              </a:rPr>
              <a:t>#33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07638" y="337854"/>
            <a:ext cx="6450806" cy="181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5"/>
              </a:lnSpc>
            </a:pPr>
            <a:r>
              <a:rPr lang="en-US" sz="3025">
                <a:solidFill>
                  <a:srgbClr val="FFFFFF"/>
                </a:solidFill>
                <a:latin typeface="Furore" panose="02000503020000020004"/>
              </a:rPr>
              <a:t>Public Hospitality Program</a:t>
            </a:r>
          </a:p>
          <a:p>
            <a:pPr>
              <a:lnSpc>
                <a:spcPts val="4235"/>
              </a:lnSpc>
            </a:pPr>
            <a:r>
              <a:rPr lang="en-US" sz="3025">
                <a:solidFill>
                  <a:srgbClr val="FFFFFF"/>
                </a:solidFill>
                <a:latin typeface="Furore" panose="02000503020000020004"/>
              </a:rPr>
              <a:t>in the world</a:t>
            </a:r>
          </a:p>
          <a:p>
            <a:pPr>
              <a:lnSpc>
                <a:spcPts val="3055"/>
              </a:lnSpc>
            </a:pPr>
            <a:r>
              <a:rPr lang="en-US" sz="2150">
                <a:solidFill>
                  <a:srgbClr val="FFFFFF"/>
                </a:solidFill>
                <a:latin typeface="Furore" panose="02000503020000020004"/>
              </a:rPr>
              <a:t>QS World University Rankings</a:t>
            </a:r>
          </a:p>
          <a:p>
            <a:pPr>
              <a:lnSpc>
                <a:spcPts val="3055"/>
              </a:lnSpc>
            </a:pPr>
            <a:r>
              <a:rPr lang="en-US" sz="2150">
                <a:solidFill>
                  <a:srgbClr val="FFFFFF"/>
                </a:solidFill>
                <a:latin typeface="Furore" panose="02000503020000020004"/>
              </a:rPr>
              <a:t>2024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876" y="9139831"/>
            <a:ext cx="17047030" cy="89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90"/>
              </a:lnSpc>
            </a:pPr>
            <a:r>
              <a:rPr lang="en-US" sz="6000" dirty="0">
                <a:solidFill>
                  <a:srgbClr val="000000"/>
                </a:solidFill>
                <a:latin typeface="Libre Franklin Bold"/>
              </a:rPr>
              <a:t>Introduction</a:t>
            </a:r>
            <a:endParaRPr lang="en-US" sz="6000" dirty="0">
              <a:solidFill>
                <a:srgbClr val="FF5757"/>
              </a:solidFill>
              <a:latin typeface="Libre Frankli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77795" y="4189730"/>
            <a:ext cx="39637970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50"/>
              </a:lnSpc>
            </a:pPr>
            <a:r>
              <a:rPr lang="en-US" altLang="zh-CN" sz="1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Burnout in Hospitality: A Comprehensive Analysis of employee turnover challenges</a:t>
            </a:r>
          </a:p>
          <a:p>
            <a:pPr algn="ctr">
              <a:lnSpc>
                <a:spcPts val="10750"/>
              </a:lnSpc>
            </a:pPr>
            <a:endParaRPr lang="en-US" altLang="zh-CN" sz="1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0" y="7593655"/>
            <a:ext cx="22659253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60"/>
              </a:lnSpc>
            </a:pPr>
            <a:r>
              <a:rPr lang="en-US" sz="576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sz="57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Sonali Shard, </a:t>
            </a:r>
            <a:r>
              <a:rPr lang="en-US" altLang="zh-CN" sz="57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Imran Ahmad, Cindy Andreas, </a:t>
            </a:r>
            <a:r>
              <a:rPr lang="en-US" sz="57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Salem Alhabshi</a:t>
            </a:r>
            <a:r>
              <a:rPr lang="en-US" altLang="zh-CN" sz="57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576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5905" y="10503535"/>
            <a:ext cx="13764895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Burnout, a state of physical, emotional, and mental exhaustion caused by excessive stress, is a significant issue in the hospitality industry. High employee turnover, long hours, low wages, and a lack of resources amplify burnout levels, reducing performance and morale. This study leverages the Job Demands-Resources (JD-R) model to understand burnout causes and effects, focusing on Miami’s hospitality sector. The purpose is to develop practical strategies to mitigate burnout and foster sustainable employee well-being.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5805" y="20001928"/>
            <a:ext cx="17047030" cy="89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90"/>
              </a:lnSpc>
            </a:pPr>
            <a:r>
              <a:rPr lang="en-US" sz="6000" dirty="0">
                <a:solidFill>
                  <a:srgbClr val="000000"/>
                </a:solidFill>
                <a:latin typeface="Libre Franklin Bold"/>
              </a:rPr>
              <a:t>Literature Review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5707" y="22284516"/>
            <a:ext cx="14376400" cy="128562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310515" lvl="1" algn="just"/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Burnout and Job Demands-Resources (JD-R) Model: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demands (workload, emotional labor) and low resources (support, remuneration) directly correlate with burnout (Tummers &amp; Bakker, 2021).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 labor, lack of personal time, and poor growth opportunities exacerbate burnout.</a:t>
            </a:r>
          </a:p>
          <a:p>
            <a:pPr marL="310515" lvl="1" algn="just"/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on Employees: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Symptoms: Fatigue, insomnia, mood swings, irritability, and health issues (Farrugia, 2023).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Consequences: Reduced efficiency, increased errors, and turnover (King &amp; Bottorff, 2022).</a:t>
            </a:r>
          </a:p>
          <a:p>
            <a:pPr marL="310515" lvl="1" algn="just"/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Impact: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 from turnover, reduced productivity, and declining customer satisfaction.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highlights the importance of addressing burnout through structural changes and support systems (Moreo et al., 2022).</a:t>
            </a:r>
          </a:p>
          <a:p>
            <a:pPr marL="621665" lvl="1" indent="-311150" algn="just">
              <a:buFont typeface="Arial" panose="020B0604020202020204"/>
              <a:buChar char="•"/>
            </a:pPr>
            <a:endParaRPr lang="en-US" altLang="zh-CN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60" r="16235" b="46879"/>
          <a:stretch>
            <a:fillRect/>
          </a:stretch>
        </p:blipFill>
        <p:spPr>
          <a:xfrm>
            <a:off x="305707" y="21078186"/>
            <a:ext cx="13764986" cy="220435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792052" y="9139833"/>
            <a:ext cx="17047030" cy="89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90"/>
              </a:lnSpc>
            </a:pPr>
            <a:r>
              <a:rPr lang="en-US" sz="6000" dirty="0">
                <a:solidFill>
                  <a:srgbClr val="000000"/>
                </a:solidFill>
                <a:latin typeface="Libre Franklin Bold"/>
              </a:rPr>
              <a:t>Hypotheses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11830" y="10681335"/>
            <a:ext cx="15721330" cy="88284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H1: High job demands (long hours, emotional labor) and low resources significantly increase burnout.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H1a: Physical burnout (fatigue) contributes more to turnover than emotional burnout (stress).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H2: Burnout significantly impacts employee retention and job satisfaction.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H2a: Improved job resources reduce burnout rates and enhance employee engagement.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H3: Mental health support and structured schedules lower burnout and increase retention.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60" r="16235" b="46879"/>
          <a:stretch>
            <a:fillRect/>
          </a:stretch>
        </p:blipFill>
        <p:spPr>
          <a:xfrm>
            <a:off x="16743793" y="10208410"/>
            <a:ext cx="13764986" cy="220435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7413867" y="20001928"/>
            <a:ext cx="17047030" cy="89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90"/>
              </a:lnSpc>
            </a:pPr>
            <a:r>
              <a:rPr lang="en-US" sz="6000" dirty="0">
                <a:solidFill>
                  <a:srgbClr val="000000"/>
                </a:solidFill>
                <a:latin typeface="Libre Franklin Bold"/>
              </a:rPr>
              <a:t>Research Model/Charts/Graphs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60" r="16235" b="46879"/>
          <a:stretch>
            <a:fillRect/>
          </a:stretch>
        </p:blipFill>
        <p:spPr>
          <a:xfrm>
            <a:off x="16743793" y="21004459"/>
            <a:ext cx="13764986" cy="220435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32004001" y="9377886"/>
            <a:ext cx="17047030" cy="89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90"/>
              </a:lnSpc>
            </a:pPr>
            <a:r>
              <a:rPr lang="en-US" sz="6000" dirty="0">
                <a:solidFill>
                  <a:srgbClr val="000000"/>
                </a:solidFill>
                <a:latin typeface="Libre Franklin Bold"/>
              </a:rPr>
              <a:t>Methodology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60" r="16235" b="46879"/>
          <a:stretch>
            <a:fillRect/>
          </a:stretch>
        </p:blipFill>
        <p:spPr>
          <a:xfrm flipV="1">
            <a:off x="31955742" y="10211010"/>
            <a:ext cx="13764986" cy="220435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32896105" y="10681335"/>
            <a:ext cx="10567035" cy="66186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310515" lvl="1" algn="just"/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Approach: 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Mixed-method research combining qualitative interviews and surveys with a Likert scale.</a:t>
            </a:r>
          </a:p>
          <a:p>
            <a:pPr marL="310515" lvl="1" algn="just"/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size: 100 professionals across Miami’s hospitality sector (hotels and restaurants).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Metrics: Emotional and physical burnout symptoms, work satisfaction levels, and turnover intentions.</a:t>
            </a:r>
          </a:p>
          <a:p>
            <a:pPr marL="310515" lvl="1" algn="just"/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 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interview responses for recurring themes (e.g., stressors, coping mechanisms).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correlating burnout levels to retention rates and performance metrics.</a:t>
            </a:r>
          </a:p>
          <a:p>
            <a:pPr marL="621665" lvl="1" indent="-311150" algn="just">
              <a:buFont typeface="Arial" panose="020B0604020202020204"/>
              <a:buChar char="•"/>
            </a:pPr>
            <a:endParaRPr lang="en-US" altLang="zh-CN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32004133" y="20068305"/>
            <a:ext cx="17047030" cy="89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90"/>
              </a:lnSpc>
            </a:pPr>
            <a:r>
              <a:rPr lang="en-US" sz="6000" dirty="0">
                <a:solidFill>
                  <a:srgbClr val="000000"/>
                </a:solidFill>
                <a:latin typeface="Libre Franklin Bold"/>
              </a:rPr>
              <a:t>Expected Results/Implications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60" r="16235" b="46879"/>
          <a:stretch>
            <a:fillRect/>
          </a:stretch>
        </p:blipFill>
        <p:spPr>
          <a:xfrm>
            <a:off x="32004021" y="20967969"/>
            <a:ext cx="13764986" cy="22043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32426585" y="21436112"/>
            <a:ext cx="10923814" cy="9233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0515" lvl="1" algn="just"/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study anticipates demonstrating a clear link between burnout and high turnover in the hospitality industry. Key outcomes include:</a:t>
            </a:r>
          </a:p>
          <a:p>
            <a:pPr marL="310515" lvl="1" algn="just"/>
            <a:endParaRPr lang="en-US" altLang="zh-CN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the need for mental health initiatives, flexible scheduling, and equitable pay.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Advocating for organizational changes like better role clarity, health insurance, and career development plans.</a:t>
            </a:r>
          </a:p>
          <a:p>
            <a:pPr marL="621665" lvl="1" indent="-311150" algn="just">
              <a:buFont typeface="Arial" panose="020B0604020202020204"/>
              <a:buChar char="•"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Offering a roadmap for Miami-based hospitality businesses to improve retention through structured support systems. Findings will serve as a benchmark for similar studies across the global hospitality sector.</a:t>
            </a:r>
          </a:p>
          <a:p>
            <a:pPr marL="621665" lvl="1" indent="-311150" algn="just">
              <a:buFont typeface="Arial" panose="020B0604020202020204"/>
              <a:buChar char="•"/>
            </a:pPr>
            <a:endParaRPr lang="en-US" altLang="zh-CN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26416110" y="31679531"/>
            <a:ext cx="17047030" cy="63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375"/>
              </a:lnSpc>
            </a:pPr>
            <a:r>
              <a:rPr lang="en-US" sz="3840">
                <a:solidFill>
                  <a:srgbClr val="000000"/>
                </a:solidFill>
                <a:latin typeface="Libre Franklin Bold"/>
              </a:rPr>
              <a:t>References available upon request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06A6AF-ED48-E4E3-C3F9-79A0F0E1F832}"/>
              </a:ext>
            </a:extLst>
          </p:cNvPr>
          <p:cNvSpPr txBox="1"/>
          <p:nvPr/>
        </p:nvSpPr>
        <p:spPr>
          <a:xfrm>
            <a:off x="16871920" y="22284516"/>
            <a:ext cx="13764986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Theoretical Framework: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JD-R Model illustrating the relationship between job demands, resources, burnout, and turnover.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Bar charts showing the prevalence of burnout symptoms among Miami’s hospitality professionals.</a:t>
            </a:r>
          </a:p>
          <a:p>
            <a:r>
              <a:rPr lang="en-US" b="1" dirty="0"/>
              <a:t>Graphical Analysis: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Comparison of turnover rates between employees with high and low burnout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Pie chart on the types of burnout (emotional vs. physical) and their contributions to turnover.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6CB19D562C27418C3E09ED107D552D" ma:contentTypeVersion="18" ma:contentTypeDescription="Create a new document." ma:contentTypeScope="" ma:versionID="7201ccdf1832901f24e34b9a28332139">
  <xsd:schema xmlns:xsd="http://www.w3.org/2001/XMLSchema" xmlns:xs="http://www.w3.org/2001/XMLSchema" xmlns:p="http://schemas.microsoft.com/office/2006/metadata/properties" xmlns:ns2="3c7f65d7-d4c3-4d12-bc2c-e6edc3b271ee" xmlns:ns3="e39a37ff-4219-4de1-a1c6-dbd42f2e1a8a" targetNamespace="http://schemas.microsoft.com/office/2006/metadata/properties" ma:root="true" ma:fieldsID="db2896ae223bf37ca8ef137115c10aff" ns2:_="" ns3:_="">
    <xsd:import namespace="3c7f65d7-d4c3-4d12-bc2c-e6edc3b271ee"/>
    <xsd:import namespace="e39a37ff-4219-4de1-a1c6-dbd42f2e1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f65d7-d4c3-4d12-bc2c-e6edc3b271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91af29b-e898-46cd-ad54-75745d14b3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9a37ff-4219-4de1-a1c6-dbd42f2e1a8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d5c602c-9914-44bc-876b-136c7ef0b2e0}" ma:internalName="TaxCatchAll" ma:showField="CatchAllData" ma:web="e39a37ff-4219-4de1-a1c6-dbd42f2e1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39a37ff-4219-4de1-a1c6-dbd42f2e1a8a" xsi:nil="true"/>
    <lcf76f155ced4ddcb4097134ff3c332f xmlns="3c7f65d7-d4c3-4d12-bc2c-e6edc3b271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1B6E354-DD37-4A55-8634-40066AFFABF4}">
  <ds:schemaRefs/>
</ds:datastoreItem>
</file>

<file path=customXml/itemProps2.xml><?xml version="1.0" encoding="utf-8"?>
<ds:datastoreItem xmlns:ds="http://schemas.openxmlformats.org/officeDocument/2006/customXml" ds:itemID="{AF00CD5D-11E6-487D-9524-21247E08AF43}">
  <ds:schemaRefs/>
</ds:datastoreItem>
</file>

<file path=customXml/itemProps3.xml><?xml version="1.0" encoding="utf-8"?>
<ds:datastoreItem xmlns:ds="http://schemas.openxmlformats.org/officeDocument/2006/customXml" ds:itemID="{EB5BCA61-E551-4FE0-8844-7465ECBFE57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592</Words>
  <Application>Microsoft Macintosh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Times New Roman</vt:lpstr>
      <vt:lpstr>Calibri</vt:lpstr>
      <vt:lpstr>Libre Franklin Bold</vt:lpstr>
      <vt:lpstr>Furore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Presentation 2023</dc:title>
  <dc:creator/>
  <cp:lastModifiedBy>Salem Alhabshi</cp:lastModifiedBy>
  <cp:revision>17</cp:revision>
  <dcterms:created xsi:type="dcterms:W3CDTF">2006-08-16T00:00:00Z</dcterms:created>
  <dcterms:modified xsi:type="dcterms:W3CDTF">2024-12-28T17:12:20Z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0x010100056CB19D562C27418C3E09ED107D552D</vt:lpwstr>
  </property>
  <property fmtid="{D5CDD505-2E9C-101B-9397-08002B2CF9AE}" pid="3" name="MediaServiceImageTags">
    <vt:lpwstr/>
  </property>
  <property fmtid="{D5CDD505-2E9C-101B-9397-08002B2CF9AE}" pid="4" name="ICV">
    <vt:lpwstr>B72A9C27AF1D4D5491AC00E16B5123F4_12</vt:lpwstr>
  </property>
  <property fmtid="{D5CDD505-2E9C-101B-9397-08002B2CF9AE}" pid="5" name="KSOProductBuildVer">
    <vt:lpwstr>2052-12.1.0.19302</vt:lpwstr>
  </property>
</Properties>
</file>